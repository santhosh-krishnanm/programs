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8" r:id="rId18"/>
    <p:sldId id="279" r:id="rId19"/>
    <p:sldId id="28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647" autoAdjust="0"/>
    <p:restoredTop sz="93447" autoAdjust="0"/>
  </p:normalViewPr>
  <p:slideViewPr>
    <p:cSldViewPr snapToGrid="0">
      <p:cViewPr varScale="1">
        <p:scale>
          <a:sx n="78" d="100"/>
          <a:sy n="78" d="100"/>
        </p:scale>
        <p:origin x="-96" y="-756"/>
      </p:cViewPr>
      <p:guideLst>
        <p:guide orient="horz" pos="2160"/>
        <p:guide pos="3840"/>
      </p:guideLst>
    </p:cSldViewPr>
  </p:slideViewPr>
  <p:outlineViewPr>
    <p:cViewPr>
      <p:scale>
        <a:sx n="33" d="100"/>
        <a:sy n="33" d="100"/>
      </p:scale>
      <p:origin x="0" y="-6276"/>
    </p:cViewPr>
  </p:outlineViewPr>
  <p:notesTextViewPr>
    <p:cViewPr>
      <p:scale>
        <a:sx n="1" d="1"/>
        <a:sy n="1" d="1"/>
      </p:scale>
      <p:origin x="0" y="0"/>
    </p:cViewPr>
  </p:notesTextViewPr>
  <p:sorterViewPr>
    <p:cViewPr>
      <p:scale>
        <a:sx n="100" d="100"/>
        <a:sy n="100" d="100"/>
      </p:scale>
      <p:origin x="0" y="-2340"/>
    </p:cViewPr>
  </p:sorterViewPr>
  <p:notesViewPr>
    <p:cSldViewPr snapToGrid="0">
      <p:cViewPr varScale="1">
        <p:scale>
          <a:sx n="57" d="100"/>
          <a:sy n="57" d="100"/>
        </p:scale>
        <p:origin x="2076" y="42"/>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51E19-C825-4C6B-82C8-DD2BDEF33035}" type="datetimeFigureOut">
              <a:rPr lang="en-IN" smtClean="0"/>
              <a:pPr/>
              <a:t>09-02-2024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35BBD3-2D43-446E-90C9-0014EE7B9735}" type="slidenum">
              <a:rPr lang="en-IN" smtClean="0"/>
              <a:pPr/>
              <a:t>‹#›</a:t>
            </a:fld>
            <a:endParaRPr lang="en-IN"/>
          </a:p>
        </p:txBody>
      </p:sp>
    </p:spTree>
    <p:extLst>
      <p:ext uri="{BB962C8B-B14F-4D97-AF65-F5344CB8AC3E}">
        <p14:creationId xmlns:p14="http://schemas.microsoft.com/office/powerpoint/2010/main" xmlns="" val="872105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2</a:t>
            </a:fld>
            <a:endParaRPr lang="en-IN"/>
          </a:p>
        </p:txBody>
      </p:sp>
    </p:spTree>
    <p:extLst>
      <p:ext uri="{BB962C8B-B14F-4D97-AF65-F5344CB8AC3E}">
        <p14:creationId xmlns:p14="http://schemas.microsoft.com/office/powerpoint/2010/main" xmlns="" val="2009649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3</a:t>
            </a:fld>
            <a:endParaRPr lang="en-IN"/>
          </a:p>
        </p:txBody>
      </p:sp>
    </p:spTree>
    <p:extLst>
      <p:ext uri="{BB962C8B-B14F-4D97-AF65-F5344CB8AC3E}">
        <p14:creationId xmlns:p14="http://schemas.microsoft.com/office/powerpoint/2010/main" xmlns="" val="641531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4</a:t>
            </a:fld>
            <a:endParaRPr lang="en-IN"/>
          </a:p>
        </p:txBody>
      </p:sp>
    </p:spTree>
    <p:extLst>
      <p:ext uri="{BB962C8B-B14F-4D97-AF65-F5344CB8AC3E}">
        <p14:creationId xmlns:p14="http://schemas.microsoft.com/office/powerpoint/2010/main" xmlns="" val="3752647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5</a:t>
            </a:fld>
            <a:endParaRPr lang="en-IN"/>
          </a:p>
        </p:txBody>
      </p:sp>
    </p:spTree>
    <p:extLst>
      <p:ext uri="{BB962C8B-B14F-4D97-AF65-F5344CB8AC3E}">
        <p14:creationId xmlns:p14="http://schemas.microsoft.com/office/powerpoint/2010/main" xmlns="" val="297118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6</a:t>
            </a:fld>
            <a:endParaRPr lang="en-IN"/>
          </a:p>
        </p:txBody>
      </p:sp>
    </p:spTree>
    <p:extLst>
      <p:ext uri="{BB962C8B-B14F-4D97-AF65-F5344CB8AC3E}">
        <p14:creationId xmlns:p14="http://schemas.microsoft.com/office/powerpoint/2010/main" xmlns="" val="277616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7</a:t>
            </a:fld>
            <a:endParaRPr lang="en-IN"/>
          </a:p>
        </p:txBody>
      </p:sp>
    </p:spTree>
    <p:extLst>
      <p:ext uri="{BB962C8B-B14F-4D97-AF65-F5344CB8AC3E}">
        <p14:creationId xmlns:p14="http://schemas.microsoft.com/office/powerpoint/2010/main" xmlns="" val="10390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8</a:t>
            </a:fld>
            <a:endParaRPr lang="en-IN"/>
          </a:p>
        </p:txBody>
      </p:sp>
    </p:spTree>
    <p:extLst>
      <p:ext uri="{BB962C8B-B14F-4D97-AF65-F5344CB8AC3E}">
        <p14:creationId xmlns:p14="http://schemas.microsoft.com/office/powerpoint/2010/main" xmlns="" val="2727451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9</a:t>
            </a:fld>
            <a:endParaRPr lang="en-IN"/>
          </a:p>
        </p:txBody>
      </p:sp>
    </p:spTree>
    <p:extLst>
      <p:ext uri="{BB962C8B-B14F-4D97-AF65-F5344CB8AC3E}">
        <p14:creationId xmlns:p14="http://schemas.microsoft.com/office/powerpoint/2010/main" xmlns="" val="1580819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10</a:t>
            </a:fld>
            <a:endParaRPr lang="en-IN"/>
          </a:p>
        </p:txBody>
      </p:sp>
    </p:spTree>
    <p:extLst>
      <p:ext uri="{BB962C8B-B14F-4D97-AF65-F5344CB8AC3E}">
        <p14:creationId xmlns:p14="http://schemas.microsoft.com/office/powerpoint/2010/main" xmlns="" val="99882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11</a:t>
            </a:fld>
            <a:endParaRPr lang="en-IN"/>
          </a:p>
        </p:txBody>
      </p:sp>
    </p:spTree>
    <p:extLst>
      <p:ext uri="{BB962C8B-B14F-4D97-AF65-F5344CB8AC3E}">
        <p14:creationId xmlns:p14="http://schemas.microsoft.com/office/powerpoint/2010/main" xmlns="" val="3989762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235BBD3-2D43-446E-90C9-0014EE7B9735}" type="slidenum">
              <a:rPr lang="en-IN" smtClean="0"/>
              <a:pPr/>
              <a:t>12</a:t>
            </a:fld>
            <a:endParaRPr lang="en-IN"/>
          </a:p>
        </p:txBody>
      </p:sp>
    </p:spTree>
    <p:extLst>
      <p:ext uri="{BB962C8B-B14F-4D97-AF65-F5344CB8AC3E}">
        <p14:creationId xmlns:p14="http://schemas.microsoft.com/office/powerpoint/2010/main" xmlns="" val="3031014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9 February 2024</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9 February 2024</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7DA533B-45CB-4337-89C6-857AE8953CCB}" type="datetime3">
              <a:rPr lang="en-US"/>
              <a:pPr/>
              <a:t>9 February 2024</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19</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193702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1154750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360812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4272479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172420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392540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1062933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1796763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2816357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3971004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238DE8-2DE7-4B77-8DEE-EBA1A47BBA2C}" type="datetimeFigureOut">
              <a:rPr lang="en-IN" smtClean="0"/>
              <a:pPr/>
              <a:t>09-02-2024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4030626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238DE8-2DE7-4B77-8DEE-EBA1A47BBA2C}" type="datetimeFigureOut">
              <a:rPr lang="en-IN" smtClean="0"/>
              <a:pPr/>
              <a:t>09-02-2024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86AF1D-05D0-444D-98CA-2E3ACA5DF482}" type="slidenum">
              <a:rPr lang="en-IN" smtClean="0"/>
              <a:pPr/>
              <a:t>‹#›</a:t>
            </a:fld>
            <a:endParaRPr lang="en-IN"/>
          </a:p>
        </p:txBody>
      </p:sp>
    </p:spTree>
    <p:extLst>
      <p:ext uri="{BB962C8B-B14F-4D97-AF65-F5344CB8AC3E}">
        <p14:creationId xmlns:p14="http://schemas.microsoft.com/office/powerpoint/2010/main" xmlns="" val="2719474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0000FF"/>
                </a:solidFill>
              </a:rPr>
              <a:t>Distributed Shared-Memory</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IN" b="1" dirty="0">
                <a:solidFill>
                  <a:srgbClr val="0000FF"/>
                </a:solidFill>
              </a:rPr>
              <a:t>Distributed Shared-Memory and Directory-Based Coherence</a:t>
            </a:r>
            <a:endParaRPr lang="en-IN" dirty="0">
              <a:solidFill>
                <a:srgbClr val="0000FF"/>
              </a:solidFill>
            </a:endParaRPr>
          </a:p>
        </p:txBody>
      </p:sp>
      <p:sp>
        <p:nvSpPr>
          <p:cNvPr id="5" name="Content Placeholder 4"/>
          <p:cNvSpPr>
            <a:spLocks noGrp="1"/>
          </p:cNvSpPr>
          <p:nvPr>
            <p:ph idx="1"/>
          </p:nvPr>
        </p:nvSpPr>
        <p:spPr/>
        <p:txBody>
          <a:bodyPr/>
          <a:lstStyle/>
          <a:p>
            <a:r>
              <a:rPr lang="en-IN" dirty="0"/>
              <a:t>Snooping protocol requires communication with all caches on every cache miss, including writes of potentially shared data</a:t>
            </a:r>
          </a:p>
          <a:p>
            <a:r>
              <a:rPr lang="en-IN" dirty="0"/>
              <a:t>We can increase the memory bandwidth and interconnection bandwidth by distributing the memory</a:t>
            </a:r>
          </a:p>
          <a:p>
            <a:pPr lvl="1"/>
            <a:r>
              <a:rPr lang="en-IN" dirty="0"/>
              <a:t>separates local memory traffic from remote memory traffic, </a:t>
            </a:r>
          </a:p>
          <a:p>
            <a:pPr lvl="1"/>
            <a:r>
              <a:rPr lang="en-IN" dirty="0"/>
              <a:t>reduces the bandwidth demands on the memory system and on the interconnection network</a:t>
            </a:r>
          </a:p>
        </p:txBody>
      </p:sp>
    </p:spTree>
    <p:extLst>
      <p:ext uri="{BB962C8B-B14F-4D97-AF65-F5344CB8AC3E}">
        <p14:creationId xmlns:p14="http://schemas.microsoft.com/office/powerpoint/2010/main" xmlns="" val="3099069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00FF"/>
                </a:solidFill>
              </a:rPr>
              <a:t>Directory protocol</a:t>
            </a:r>
            <a:endParaRPr lang="en-IN" dirty="0">
              <a:solidFill>
                <a:srgbClr val="0000FF"/>
              </a:solidFill>
            </a:endParaRPr>
          </a:p>
        </p:txBody>
      </p:sp>
      <p:sp>
        <p:nvSpPr>
          <p:cNvPr id="3" name="Content Placeholder 2"/>
          <p:cNvSpPr>
            <a:spLocks noGrp="1"/>
          </p:cNvSpPr>
          <p:nvPr>
            <p:ph idx="1"/>
          </p:nvPr>
        </p:nvSpPr>
        <p:spPr/>
        <p:txBody>
          <a:bodyPr/>
          <a:lstStyle/>
          <a:p>
            <a:r>
              <a:rPr lang="en-IN" dirty="0"/>
              <a:t>A directory keeps the state of every block that may be cached. </a:t>
            </a:r>
          </a:p>
          <a:p>
            <a:r>
              <a:rPr lang="en-IN" dirty="0"/>
              <a:t>Information in the directory includes which caches (or collections of caches) have copies of the block, whether it is dirty and so on</a:t>
            </a:r>
          </a:p>
          <a:p>
            <a:endParaRPr lang="en-IN" dirty="0"/>
          </a:p>
        </p:txBody>
      </p:sp>
    </p:spTree>
    <p:extLst>
      <p:ext uri="{BB962C8B-B14F-4D97-AF65-F5344CB8AC3E}">
        <p14:creationId xmlns:p14="http://schemas.microsoft.com/office/powerpoint/2010/main" xmlns="" val="3402097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00FF"/>
                </a:solidFill>
              </a:rPr>
              <a:t>Directory protocol</a:t>
            </a:r>
            <a:endParaRPr lang="en-IN" dirty="0"/>
          </a:p>
        </p:txBody>
      </p:sp>
      <p:sp>
        <p:nvSpPr>
          <p:cNvPr id="3" name="Content Placeholder 2"/>
          <p:cNvSpPr>
            <a:spLocks noGrp="1"/>
          </p:cNvSpPr>
          <p:nvPr>
            <p:ph idx="1"/>
          </p:nvPr>
        </p:nvSpPr>
        <p:spPr/>
        <p:txBody>
          <a:bodyPr>
            <a:normAutofit/>
          </a:bodyPr>
          <a:lstStyle/>
          <a:p>
            <a:pPr algn="just"/>
            <a:r>
              <a:rPr lang="en-IN" dirty="0"/>
              <a:t>Single directory used in a multicore is not scalable.</a:t>
            </a:r>
          </a:p>
          <a:p>
            <a:pPr algn="just"/>
            <a:r>
              <a:rPr lang="en-IN" dirty="0"/>
              <a:t>The directory must be distributed, but the distribution must be done in a way that the coherence protocol knows where to find the directory information for any cached block of memory. </a:t>
            </a:r>
          </a:p>
          <a:p>
            <a:pPr algn="just"/>
            <a:r>
              <a:rPr lang="en-IN" dirty="0">
                <a:solidFill>
                  <a:srgbClr val="FF0000"/>
                </a:solidFill>
              </a:rPr>
              <a:t>The obvious solution is to </a:t>
            </a:r>
            <a:r>
              <a:rPr lang="en-IN" dirty="0"/>
              <a:t>distribute the directory along with the memory, so that different coherence requests can go to different directories, just as different memory requests go to different memories.</a:t>
            </a:r>
          </a:p>
          <a:p>
            <a:pPr algn="just"/>
            <a:r>
              <a:rPr lang="en-IN" dirty="0"/>
              <a:t>A distributed directory retains the characteristic that the sharing status of a block is always in a single known location</a:t>
            </a:r>
          </a:p>
        </p:txBody>
      </p:sp>
    </p:spTree>
    <p:extLst>
      <p:ext uri="{BB962C8B-B14F-4D97-AF65-F5344CB8AC3E}">
        <p14:creationId xmlns:p14="http://schemas.microsoft.com/office/powerpoint/2010/main" xmlns="" val="1101751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stretch>
            <a:fillRect/>
          </a:stretch>
        </p:blipFill>
        <p:spPr>
          <a:xfrm>
            <a:off x="838200" y="1290320"/>
            <a:ext cx="10515599" cy="4852552"/>
          </a:xfrm>
          <a:prstGeom prst="rect">
            <a:avLst/>
          </a:prstGeom>
        </p:spPr>
      </p:pic>
    </p:spTree>
    <p:extLst>
      <p:ext uri="{BB962C8B-B14F-4D97-AF65-F5344CB8AC3E}">
        <p14:creationId xmlns:p14="http://schemas.microsoft.com/office/powerpoint/2010/main" xmlns="" val="411740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IN" b="1" dirty="0"/>
              <a:t>A directory is added to each node to implement cache coherence in a distributed-memory multiprocessor.</a:t>
            </a:r>
          </a:p>
          <a:p>
            <a:pPr algn="just"/>
            <a:r>
              <a:rPr lang="en-IN" dirty="0"/>
              <a:t>A node is shown as a single multicore chip, and the directory information for the associated memory may reside either on or off the multicore. </a:t>
            </a:r>
          </a:p>
          <a:p>
            <a:pPr algn="just"/>
            <a:r>
              <a:rPr lang="en-IN" dirty="0"/>
              <a:t>Each directory is responsible for tracking the caches that share the memory addresses of the portion of memory in the node. </a:t>
            </a:r>
          </a:p>
          <a:p>
            <a:pPr algn="just"/>
            <a:r>
              <a:rPr lang="en-IN" dirty="0"/>
              <a:t>The coherence mechanism would handle both the maintenance of the directory information and any coherence actions needed within the multicore node</a:t>
            </a:r>
          </a:p>
        </p:txBody>
      </p:sp>
    </p:spTree>
    <p:extLst>
      <p:ext uri="{BB962C8B-B14F-4D97-AF65-F5344CB8AC3E}">
        <p14:creationId xmlns:p14="http://schemas.microsoft.com/office/powerpoint/2010/main" xmlns="" val="3160928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00FF"/>
                </a:solidFill>
              </a:rPr>
              <a:t>Directory-Based Cache Coherence Protocols: The Basics</a:t>
            </a:r>
            <a:endParaRPr lang="en-IN" dirty="0">
              <a:solidFill>
                <a:srgbClr val="0000FF"/>
              </a:solidFill>
            </a:endParaRPr>
          </a:p>
        </p:txBody>
      </p:sp>
      <p:sp>
        <p:nvSpPr>
          <p:cNvPr id="3" name="Content Placeholder 2"/>
          <p:cNvSpPr>
            <a:spLocks noGrp="1"/>
          </p:cNvSpPr>
          <p:nvPr>
            <p:ph idx="1"/>
          </p:nvPr>
        </p:nvSpPr>
        <p:spPr/>
        <p:txBody>
          <a:bodyPr/>
          <a:lstStyle/>
          <a:p>
            <a:r>
              <a:rPr lang="en-IN" dirty="0"/>
              <a:t>There are two primary operations that a directory protocol must implement: </a:t>
            </a:r>
          </a:p>
          <a:p>
            <a:pPr lvl="1"/>
            <a:r>
              <a:rPr lang="en-IN" dirty="0"/>
              <a:t>handling a read miss and handling a write to a shared,</a:t>
            </a:r>
          </a:p>
          <a:p>
            <a:pPr lvl="1"/>
            <a:r>
              <a:rPr lang="en-IN" dirty="0"/>
              <a:t>clean cache block</a:t>
            </a:r>
          </a:p>
        </p:txBody>
      </p:sp>
    </p:spTree>
    <p:extLst>
      <p:ext uri="{BB962C8B-B14F-4D97-AF65-F5344CB8AC3E}">
        <p14:creationId xmlns:p14="http://schemas.microsoft.com/office/powerpoint/2010/main" xmlns="" val="3745347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solidFill>
                  <a:srgbClr val="0000FF"/>
                </a:solidFill>
              </a:rPr>
              <a:t>In a simple directory protocol, the following states could be possible</a:t>
            </a:r>
          </a:p>
        </p:txBody>
      </p:sp>
      <p:sp>
        <p:nvSpPr>
          <p:cNvPr id="3" name="Content Placeholder 2"/>
          <p:cNvSpPr>
            <a:spLocks noGrp="1"/>
          </p:cNvSpPr>
          <p:nvPr>
            <p:ph idx="1"/>
          </p:nvPr>
        </p:nvSpPr>
        <p:spPr/>
        <p:txBody>
          <a:bodyPr>
            <a:normAutofit/>
          </a:bodyPr>
          <a:lstStyle/>
          <a:p>
            <a:r>
              <a:rPr lang="en-IN" i="1" dirty="0">
                <a:solidFill>
                  <a:srgbClr val="FF0000"/>
                </a:solidFill>
              </a:rPr>
              <a:t>Shared</a:t>
            </a:r>
            <a:r>
              <a:rPr lang="en-IN" dirty="0"/>
              <a:t>—One or more nodes have the block cached, and the value in memory is up to date (as well as in all the caches).</a:t>
            </a:r>
          </a:p>
          <a:p>
            <a:r>
              <a:rPr lang="en-IN" i="1" dirty="0" err="1">
                <a:solidFill>
                  <a:srgbClr val="FF0000"/>
                </a:solidFill>
              </a:rPr>
              <a:t>Uncached</a:t>
            </a:r>
            <a:r>
              <a:rPr lang="en-IN" dirty="0"/>
              <a:t>—No node has a copy of the cache block.</a:t>
            </a:r>
          </a:p>
          <a:p>
            <a:r>
              <a:rPr lang="en-IN" i="1" dirty="0">
                <a:solidFill>
                  <a:srgbClr val="FF0000"/>
                </a:solidFill>
              </a:rPr>
              <a:t>Modified</a:t>
            </a:r>
            <a:r>
              <a:rPr lang="en-IN" dirty="0"/>
              <a:t>—Exactly one node has a copy of the cache block, and it has written the block, so the memory copy is out of date. The processor is called the </a:t>
            </a:r>
            <a:r>
              <a:rPr lang="en-IN" i="1" dirty="0"/>
              <a:t>owner </a:t>
            </a:r>
            <a:r>
              <a:rPr lang="en-IN" dirty="0"/>
              <a:t>of the block.</a:t>
            </a:r>
          </a:p>
          <a:p>
            <a:r>
              <a:rPr lang="en-IN" i="1" dirty="0">
                <a:solidFill>
                  <a:srgbClr val="FF0000"/>
                </a:solidFill>
              </a:rPr>
              <a:t>We must track which nodes have copies of that block, since those copies will need to be invalidated on a write</a:t>
            </a:r>
          </a:p>
          <a:p>
            <a:endParaRPr lang="en-IN" dirty="0"/>
          </a:p>
        </p:txBody>
      </p:sp>
    </p:spTree>
    <p:extLst>
      <p:ext uri="{BB962C8B-B14F-4D97-AF65-F5344CB8AC3E}">
        <p14:creationId xmlns:p14="http://schemas.microsoft.com/office/powerpoint/2010/main" xmlns="" val="2710752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00FF"/>
                </a:solidFill>
              </a:rPr>
              <a:t>Solution</a:t>
            </a:r>
          </a:p>
        </p:txBody>
      </p:sp>
      <p:sp>
        <p:nvSpPr>
          <p:cNvPr id="3" name="Content Placeholder 2"/>
          <p:cNvSpPr>
            <a:spLocks noGrp="1"/>
          </p:cNvSpPr>
          <p:nvPr>
            <p:ph idx="1"/>
          </p:nvPr>
        </p:nvSpPr>
        <p:spPr/>
        <p:txBody>
          <a:bodyPr/>
          <a:lstStyle/>
          <a:p>
            <a:r>
              <a:rPr lang="en-IN" dirty="0"/>
              <a:t> Keep a bit vector for each memory block. </a:t>
            </a:r>
          </a:p>
          <a:p>
            <a:r>
              <a:rPr lang="en-IN" dirty="0"/>
              <a:t>When the block is shared, each bit of the vector indicates whether the corresponding processor chip (which is likely a multicore) has a copy of that block. </a:t>
            </a:r>
          </a:p>
          <a:p>
            <a:r>
              <a:rPr lang="en-IN" dirty="0"/>
              <a:t>We can also use the bit vector to keep track of the owner of the block when the block is in the exclusive state</a:t>
            </a:r>
          </a:p>
        </p:txBody>
      </p:sp>
    </p:spTree>
    <p:extLst>
      <p:ext uri="{BB962C8B-B14F-4D97-AF65-F5344CB8AC3E}">
        <p14:creationId xmlns:p14="http://schemas.microsoft.com/office/powerpoint/2010/main" xmlns="" val="3357589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0000FF"/>
                </a:solidFill>
              </a:rPr>
              <a:t>Types of messages</a:t>
            </a:r>
          </a:p>
        </p:txBody>
      </p:sp>
      <p:sp>
        <p:nvSpPr>
          <p:cNvPr id="3" name="Content Placeholder 2"/>
          <p:cNvSpPr>
            <a:spLocks noGrp="1"/>
          </p:cNvSpPr>
          <p:nvPr>
            <p:ph idx="1"/>
          </p:nvPr>
        </p:nvSpPr>
        <p:spPr/>
        <p:txBody>
          <a:bodyPr/>
          <a:lstStyle/>
          <a:p>
            <a:r>
              <a:rPr lang="en-IN" dirty="0"/>
              <a:t>The </a:t>
            </a:r>
            <a:r>
              <a:rPr lang="en-IN" i="1" dirty="0">
                <a:solidFill>
                  <a:srgbClr val="FF0000"/>
                </a:solidFill>
              </a:rPr>
              <a:t>local node </a:t>
            </a:r>
            <a:r>
              <a:rPr lang="en-IN" dirty="0"/>
              <a:t>is the node where a request originates. </a:t>
            </a:r>
          </a:p>
          <a:p>
            <a:r>
              <a:rPr lang="en-IN" dirty="0"/>
              <a:t>The </a:t>
            </a:r>
            <a:r>
              <a:rPr lang="en-IN" i="1" dirty="0">
                <a:solidFill>
                  <a:srgbClr val="FF0000"/>
                </a:solidFill>
              </a:rPr>
              <a:t>home node</a:t>
            </a:r>
            <a:r>
              <a:rPr lang="en-IN" i="1" dirty="0"/>
              <a:t> </a:t>
            </a:r>
            <a:r>
              <a:rPr lang="en-IN" dirty="0"/>
              <a:t>is the node where the memory location and the directory entry of an address reside. </a:t>
            </a:r>
          </a:p>
          <a:p>
            <a:r>
              <a:rPr lang="en-IN" dirty="0"/>
              <a:t>The physical address space is statically distributed, so the node that contains the memory and directory for a given physical address is known.</a:t>
            </a:r>
          </a:p>
          <a:p>
            <a:r>
              <a:rPr lang="en-IN" dirty="0"/>
              <a:t>The directory must be accessed when the home node is the local node, since copies may exist in yet a third node, called a </a:t>
            </a:r>
            <a:r>
              <a:rPr lang="en-IN" i="1" dirty="0">
                <a:solidFill>
                  <a:srgbClr val="FF0000"/>
                </a:solidFill>
              </a:rPr>
              <a:t>remote node</a:t>
            </a:r>
            <a:r>
              <a:rPr lang="en-IN" i="1" dirty="0"/>
              <a:t>.</a:t>
            </a:r>
            <a:endParaRPr lang="en-IN" dirty="0"/>
          </a:p>
        </p:txBody>
      </p:sp>
    </p:spTree>
    <p:extLst>
      <p:ext uri="{BB962C8B-B14F-4D97-AF65-F5344CB8AC3E}">
        <p14:creationId xmlns:p14="http://schemas.microsoft.com/office/powerpoint/2010/main" xmlns="" val="328769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 </a:t>
            </a:r>
            <a:r>
              <a:rPr lang="en-IN" dirty="0"/>
              <a:t>= </a:t>
            </a:r>
            <a:r>
              <a:rPr lang="en-IN" b="1" dirty="0"/>
              <a:t>requesting node number, A </a:t>
            </a:r>
            <a:r>
              <a:rPr lang="en-IN" dirty="0"/>
              <a:t>= </a:t>
            </a:r>
            <a:r>
              <a:rPr lang="en-IN" b="1" dirty="0"/>
              <a:t>requested address, and D </a:t>
            </a:r>
            <a:r>
              <a:rPr lang="en-IN" dirty="0"/>
              <a:t>= </a:t>
            </a:r>
            <a:r>
              <a:rPr lang="en-IN" b="1" dirty="0"/>
              <a:t>data contents</a:t>
            </a:r>
            <a:endParaRPr lang="en-IN" dirty="0"/>
          </a:p>
        </p:txBody>
      </p:sp>
      <p:pic>
        <p:nvPicPr>
          <p:cNvPr id="4" name="Content Placeholder 3"/>
          <p:cNvPicPr>
            <a:picLocks noGrp="1" noChangeAspect="1"/>
          </p:cNvPicPr>
          <p:nvPr>
            <p:ph idx="1"/>
          </p:nvPr>
        </p:nvPicPr>
        <p:blipFill>
          <a:blip r:embed="rId3"/>
          <a:stretch>
            <a:fillRect/>
          </a:stretch>
        </p:blipFill>
        <p:spPr>
          <a:xfrm>
            <a:off x="0" y="0"/>
            <a:ext cx="12486290" cy="6857999"/>
          </a:xfrm>
          <a:prstGeom prst="rect">
            <a:avLst/>
          </a:prstGeom>
        </p:spPr>
      </p:pic>
    </p:spTree>
    <p:extLst>
      <p:ext uri="{BB962C8B-B14F-4D97-AF65-F5344CB8AC3E}">
        <p14:creationId xmlns:p14="http://schemas.microsoft.com/office/powerpoint/2010/main" xmlns="" val="2238559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IN" sz="3600" b="1" dirty="0">
                <a:solidFill>
                  <a:srgbClr val="0000FF"/>
                </a:solidFill>
              </a:rPr>
              <a:t>An Example Directory Protocol - State transition diagram for an individual cache block in a directory based system.</a:t>
            </a:r>
            <a:endParaRPr lang="en-IN" sz="3600" dirty="0">
              <a:solidFill>
                <a:srgbClr val="0000FF"/>
              </a:solidFill>
            </a:endParaRPr>
          </a:p>
        </p:txBody>
      </p:sp>
      <p:pic>
        <p:nvPicPr>
          <p:cNvPr id="4" name="Content Placeholder 3"/>
          <p:cNvPicPr>
            <a:picLocks noGrp="1" noChangeAspect="1"/>
          </p:cNvPicPr>
          <p:nvPr>
            <p:ph idx="1"/>
          </p:nvPr>
        </p:nvPicPr>
        <p:blipFill>
          <a:blip r:embed="rId3"/>
          <a:stretch>
            <a:fillRect/>
          </a:stretch>
        </p:blipFill>
        <p:spPr>
          <a:xfrm>
            <a:off x="838200" y="1825625"/>
            <a:ext cx="9861884" cy="4351338"/>
          </a:xfrm>
          <a:prstGeom prst="rect">
            <a:avLst/>
          </a:prstGeom>
        </p:spPr>
      </p:pic>
    </p:spTree>
    <p:extLst>
      <p:ext uri="{BB962C8B-B14F-4D97-AF65-F5344CB8AC3E}">
        <p14:creationId xmlns:p14="http://schemas.microsoft.com/office/powerpoint/2010/main" xmlns="" val="1077575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message sent to a directory causes two different types of actions: </a:t>
            </a:r>
          </a:p>
          <a:p>
            <a:pPr lvl="1"/>
            <a:r>
              <a:rPr lang="en-IN" dirty="0"/>
              <a:t>updating the directory state and sending additional messages to satisfy the request.</a:t>
            </a:r>
          </a:p>
          <a:p>
            <a:pPr lvl="1"/>
            <a:r>
              <a:rPr lang="en-IN" dirty="0"/>
              <a:t> The states in the directory represent the three standard states for a block; unlike in a snooping scheme</a:t>
            </a:r>
          </a:p>
          <a:p>
            <a:r>
              <a:rPr lang="en-IN" dirty="0"/>
              <a:t> directory state indicates the state of all the cached copies of a memory block, rather than for a single cache block</a:t>
            </a:r>
          </a:p>
        </p:txBody>
      </p:sp>
    </p:spTree>
    <p:extLst>
      <p:ext uri="{BB962C8B-B14F-4D97-AF65-F5344CB8AC3E}">
        <p14:creationId xmlns:p14="http://schemas.microsoft.com/office/powerpoint/2010/main" xmlns="" val="1633388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addition to the state of each block, the directory must track the set of nodes that have a copy of a block; we use a </a:t>
            </a:r>
            <a:r>
              <a:rPr lang="en-IN" dirty="0">
                <a:solidFill>
                  <a:srgbClr val="FF0000"/>
                </a:solidFill>
              </a:rPr>
              <a:t>set called </a:t>
            </a:r>
            <a:r>
              <a:rPr lang="en-IN" i="1" dirty="0">
                <a:solidFill>
                  <a:srgbClr val="FF0000"/>
                </a:solidFill>
              </a:rPr>
              <a:t>Sharers</a:t>
            </a:r>
            <a:r>
              <a:rPr lang="en-IN" i="1" dirty="0"/>
              <a:t> </a:t>
            </a:r>
            <a:r>
              <a:rPr lang="en-IN" dirty="0"/>
              <a:t>to perform this function.</a:t>
            </a:r>
          </a:p>
        </p:txBody>
      </p:sp>
    </p:spTree>
    <p:extLst>
      <p:ext uri="{BB962C8B-B14F-4D97-AF65-F5344CB8AC3E}">
        <p14:creationId xmlns:p14="http://schemas.microsoft.com/office/powerpoint/2010/main" xmlns="" val="3375497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When a block is in the </a:t>
            </a:r>
            <a:r>
              <a:rPr lang="en-IN" dirty="0" err="1"/>
              <a:t>uncached</a:t>
            </a:r>
            <a:r>
              <a:rPr lang="en-IN" dirty="0"/>
              <a:t> state, the copy in memory is the current value, so the only possible requests for that block are</a:t>
            </a:r>
          </a:p>
          <a:p>
            <a:pPr lvl="1"/>
            <a:r>
              <a:rPr lang="en-IN" i="1" dirty="0"/>
              <a:t>Read miss</a:t>
            </a:r>
            <a:r>
              <a:rPr lang="en-IN" dirty="0"/>
              <a:t>—The requesting node sent the requested data from memory, and the requestor is made the only sharing node. The state of the block is made shared.</a:t>
            </a:r>
          </a:p>
          <a:p>
            <a:pPr lvl="1"/>
            <a:r>
              <a:rPr lang="en-IN" i="1" dirty="0"/>
              <a:t>Write miss</a:t>
            </a:r>
            <a:r>
              <a:rPr lang="en-IN" dirty="0"/>
              <a:t>—The requesting node sent the value and becomes the sharing node. The block is made exclusive to indicate that the only valid copy is cached. Sharers indicates the identity of the owner</a:t>
            </a:r>
          </a:p>
        </p:txBody>
      </p:sp>
    </p:spTree>
    <p:extLst>
      <p:ext uri="{BB962C8B-B14F-4D97-AF65-F5344CB8AC3E}">
        <p14:creationId xmlns:p14="http://schemas.microsoft.com/office/powerpoint/2010/main" xmlns="" val="1644650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When the block is in the shared state, the memory value is up to date, so the same two requests can occur:</a:t>
            </a:r>
          </a:p>
          <a:p>
            <a:pPr lvl="1"/>
            <a:r>
              <a:rPr lang="en-IN" i="1" dirty="0"/>
              <a:t>Read miss</a:t>
            </a:r>
            <a:r>
              <a:rPr lang="en-IN" dirty="0"/>
              <a:t>—The requesting node sent the requested data from memory, and the requesting node is added to the sharing set.</a:t>
            </a:r>
          </a:p>
          <a:p>
            <a:pPr lvl="1"/>
            <a:r>
              <a:rPr lang="en-IN" i="1" dirty="0"/>
              <a:t>Write miss</a:t>
            </a:r>
            <a:r>
              <a:rPr lang="en-IN" dirty="0"/>
              <a:t>—The requesting node sent the value. All nodes in the set Sharers are sent invalidate messages, and the Sharers set is to contain the identity of the requesting node. </a:t>
            </a:r>
            <a:r>
              <a:rPr lang="en-IN" dirty="0">
                <a:solidFill>
                  <a:srgbClr val="FF0000"/>
                </a:solidFill>
              </a:rPr>
              <a:t>The state of the block is made exclusive</a:t>
            </a:r>
            <a:r>
              <a:rPr lang="en-IN" dirty="0"/>
              <a:t>.</a:t>
            </a:r>
          </a:p>
        </p:txBody>
      </p:sp>
    </p:spTree>
    <p:extLst>
      <p:ext uri="{BB962C8B-B14F-4D97-AF65-F5344CB8AC3E}">
        <p14:creationId xmlns:p14="http://schemas.microsoft.com/office/powerpoint/2010/main" xmlns="" val="4227615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Performance</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3200" dirty="0" smtClean="0"/>
              <a:t>Coherence influences cache miss rate</a:t>
            </a:r>
          </a:p>
          <a:p>
            <a:pPr lvl="1">
              <a:lnSpc>
                <a:spcPct val="90000"/>
              </a:lnSpc>
            </a:pPr>
            <a:r>
              <a:rPr lang="en-US" sz="2800" dirty="0" smtClean="0"/>
              <a:t>Coherence misses</a:t>
            </a:r>
          </a:p>
          <a:p>
            <a:pPr lvl="2">
              <a:lnSpc>
                <a:spcPct val="90000"/>
              </a:lnSpc>
            </a:pPr>
            <a:r>
              <a:rPr lang="en-US" sz="2400" dirty="0" smtClean="0"/>
              <a:t>True sharing misses</a:t>
            </a:r>
          </a:p>
          <a:p>
            <a:pPr lvl="3">
              <a:lnSpc>
                <a:spcPct val="90000"/>
              </a:lnSpc>
            </a:pPr>
            <a:r>
              <a:rPr lang="en-US" sz="2000" dirty="0" smtClean="0"/>
              <a:t>Write to shared block (transmission of invalidation)</a:t>
            </a:r>
          </a:p>
          <a:p>
            <a:pPr lvl="3">
              <a:lnSpc>
                <a:spcPct val="90000"/>
              </a:lnSpc>
            </a:pPr>
            <a:r>
              <a:rPr lang="en-US" sz="2000" dirty="0" smtClean="0"/>
              <a:t>Read an invalidated block</a:t>
            </a:r>
          </a:p>
          <a:p>
            <a:pPr lvl="2">
              <a:lnSpc>
                <a:spcPct val="90000"/>
              </a:lnSpc>
            </a:pPr>
            <a:r>
              <a:rPr lang="en-US" sz="2400" dirty="0" smtClean="0"/>
              <a:t>False sharing misses</a:t>
            </a:r>
          </a:p>
          <a:p>
            <a:pPr lvl="3">
              <a:lnSpc>
                <a:spcPct val="90000"/>
              </a:lnSpc>
            </a:pPr>
            <a:r>
              <a:rPr lang="en-US" sz="2000" dirty="0" smtClean="0"/>
              <a:t>Read an unmodified word in an invalidated block</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643128" y="182245"/>
            <a:ext cx="10515600" cy="1325563"/>
          </a:xfrm>
        </p:spPr>
        <p:txBody>
          <a:bodyPr/>
          <a:lstStyle/>
          <a:p>
            <a:r>
              <a:rPr lang="en-US" dirty="0" smtClean="0"/>
              <a:t>Performance</a:t>
            </a:r>
            <a:endParaRPr lang="en-AU" dirty="0"/>
          </a:p>
        </p:txBody>
      </p:sp>
      <p:sp>
        <p:nvSpPr>
          <p:cNvPr id="242691" name="Rectangle 3"/>
          <p:cNvSpPr>
            <a:spLocks noGrp="1" noChangeArrowheads="1"/>
          </p:cNvSpPr>
          <p:nvPr>
            <p:ph idx="1"/>
          </p:nvPr>
        </p:nvSpPr>
        <p:spPr/>
        <p:txBody>
          <a:bodyPr/>
          <a:lstStyle/>
          <a:p>
            <a:pPr marL="1371600" lvl="3" indent="0">
              <a:lnSpc>
                <a:spcPct val="90000"/>
              </a:lnSpc>
              <a:buNone/>
            </a:pPr>
            <a:endParaRPr lang="en-US" sz="2000" dirty="0" smtClean="0"/>
          </a:p>
        </p:txBody>
      </p:sp>
      <p:pic>
        <p:nvPicPr>
          <p:cNvPr id="1026"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7333" y="1146048"/>
            <a:ext cx="11971693" cy="55473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9599270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Performance</a:t>
            </a:r>
            <a:endParaRPr lang="en-AU" dirty="0"/>
          </a:p>
        </p:txBody>
      </p:sp>
      <p:sp>
        <p:nvSpPr>
          <p:cNvPr id="242691" name="Rectangle 3"/>
          <p:cNvSpPr>
            <a:spLocks noGrp="1" noChangeArrowheads="1"/>
          </p:cNvSpPr>
          <p:nvPr>
            <p:ph idx="1"/>
          </p:nvPr>
        </p:nvSpPr>
        <p:spPr/>
        <p:txBody>
          <a:bodyPr/>
          <a:lstStyle/>
          <a:p>
            <a:pPr marL="1371600" lvl="3" indent="0">
              <a:lnSpc>
                <a:spcPct val="90000"/>
              </a:lnSpc>
              <a:buNone/>
            </a:pPr>
            <a:endParaRPr lang="en-US" sz="2000" dirty="0" smtClean="0"/>
          </a:p>
        </p:txBody>
      </p:sp>
      <p:pic>
        <p:nvPicPr>
          <p:cNvPr id="2050"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19950" y="1124744"/>
            <a:ext cx="12072050" cy="57332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536360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1009</Words>
  <Application>Microsoft Office PowerPoint</Application>
  <PresentationFormat>Custom</PresentationFormat>
  <Paragraphs>82</Paragraphs>
  <Slides>19</Slides>
  <Notes>14</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Distributed Shared-Memory</vt:lpstr>
      <vt:lpstr>Distributed Shared-Memory and Directory-Based Coherence</vt:lpstr>
      <vt:lpstr>Directory protocol</vt:lpstr>
      <vt:lpstr>Directory protocol</vt:lpstr>
      <vt:lpstr>Slide 5</vt:lpstr>
      <vt:lpstr>Slide 6</vt:lpstr>
      <vt:lpstr>Directory-Based Cache Coherence Protocols: The Basics</vt:lpstr>
      <vt:lpstr>In a simple directory protocol, the following states could be possible</vt:lpstr>
      <vt:lpstr>Solution</vt:lpstr>
      <vt:lpstr>Types of messages</vt:lpstr>
      <vt:lpstr>P = requesting node number, A = requested address, and D = data contents</vt:lpstr>
      <vt:lpstr>An Example Directory Protocol - State transition diagram for an individual cache block in a directory based system.</vt:lpstr>
      <vt:lpstr>Slide 13</vt:lpstr>
      <vt:lpstr>Slide 14</vt:lpstr>
      <vt:lpstr>Slide 15</vt:lpstr>
      <vt:lpstr>Slide 16</vt:lpstr>
      <vt:lpstr>Performance</vt:lpstr>
      <vt:lpstr>Performance</vt:lpstr>
      <vt:lpstr>Performance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Shared-Memory and Directory-Based Coherence</dc:title>
  <dc:creator>Admin</dc:creator>
  <cp:lastModifiedBy>COF17</cp:lastModifiedBy>
  <cp:revision>71</cp:revision>
  <dcterms:created xsi:type="dcterms:W3CDTF">2016-09-12T20:51:19Z</dcterms:created>
  <dcterms:modified xsi:type="dcterms:W3CDTF">2024-02-09T09:29:25Z</dcterms:modified>
</cp:coreProperties>
</file>