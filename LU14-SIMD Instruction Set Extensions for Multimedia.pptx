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71" r:id="rId14"/>
    <p:sldId id="267" r:id="rId15"/>
    <p:sldId id="268" r:id="rId16"/>
    <p:sldId id="26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0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2:02.33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900 10,'17'0,"-17"0,18 0,0 0,-18 0,35 0,-17 0,17 0,-18 0,19 0,17 0,0 0,-1 0,19 0,17 0,-17 0,-1 0,-17 0,18 0,-18 0,0 0,0 0,17 0,-17 0,0 0,0 0,0 0,17 0,1 0,-1 0,19 0,-36 0,17 0,-17 0,0 0,18 0,-19 0,19 0,0 0,-19 0,19 0,17 0,-17 0,-1 0,1 0,17 0,-35 0,0 0,0 0,17 0,1 0,-1 0,1 0,17 0,0 0,18 0,-18 0,18 0,18 0,-36 0,18 0,17 0,-35 0,18 0,-35 0,-18 0,-18 0,18 0,-35 0</inkml:trace>
  <inkml:trace contextRef="#ctx0" brushRef="#br0" timeOffset="2652">10478 45,'0'0,"17"0,19 0,-19 0,18 0,-17 0,17 0,1 0,17 0,-1-18,19 18,-18 0,0 0,0 0,0-17,0 17,0 0,-1 0,1 0,0 0,0 0,0 0,0 0,18 0,-1 0,-17 0,18 0,-18 0,17 0,1 0,-1 0,18 0,-17 0,0 0,-1 0,1 0,17 0,-18 0,1 0,-1 0,19 0,-19 0,1 17,17 1,-17-18,17 17,-18-17,1 18,17-18,-17 0,-1 0,1 0,35 0,-36 0,1 0,17 0,-18 0,1 0,-1 0,1 0,17 0,-17 0,-18 0,0 0,0 0,-1 0,1 0,0 0,0 0,0 0,18 0,-1 0,1 0,-1 0,1 0,-1 0,19 0,-1 0,-18 0,36 0,-35 18,35-18,-1 0,-16 0,17 0,-18 0,18 0,-18 0,18 0,-18 0,18 0,-1 0,-16 0,16 0,-16 0,34 0,-17 0,-18 0,18 0,17 0,-34 0,34 0,-17 0,17 0,-34 0,34 0,1 0,-36 0,18 0,-1 0,-16 0,34 0,-17 0,-18 0,18 0,-18 0,18 0,-35 0,34 0,-16 0,16 0,-16 0,-19 0,36 0,0 0,-18 0,-17 0,34 0,-16 0,-1 0,-18 0,1 0,-1 0,-17 0,18 0,17 0,-35-18,0 18,-18 0,1 0,-19 0,1 0</inkml:trace>
  <inkml:trace contextRef="#ctx0" brushRef="#br0" timeOffset="10608">1376 2267,'0'0,"0"0,18 0,34 0,-16 0,17 18,17-18,36 0,18 0,-19 0,1 0,0 0,-18 0,-17 0,17 0,-17 0,-19 0,19 0,-18 0,0 0,0 0,0 0,17 0,18 0,-17 0,0 0,34 0,-16 0,-19 0,18 0,-17 0,-18 0,0 0,0 0,0 0,17 0,1 0,17 0,-18 0,1 0,0 0,-1 0,18 0,-17 0,-1 0,1 0,17 18,-17-1,-1-17,18 0,-17 0,-18 0,17 0,-17 0,0 0,18 0,17 18,-17-18,17 0,18 0,-36 0,1 0,17 0,-17 0,-19 0,1 0,0 0,0 0,18 0,-18 0,17 0,18 0,1 0,16 0,-16 0,16 0,-16 0,34 0,-17 0,-18 0,18 0,0 0,-18 0,18 0,17 0,1 0,17 0,18 0,17 0,18 0,0 0,-35 0,-18 0,18 0,-36 0,-35 0,18 0,-35 0,-1 0,-17 0,-17 0,-1 0,-18-18,1 18</inkml:trace>
  <inkml:trace contextRef="#ctx0" brushRef="#br0" timeOffset="17160">14976 2303,'0'0,"17"0,1 0,-18 0,17 0,19 0,-1 0,36 0,-1-18,36 0,-18 1,-35-1,18 18,34 0,-16 0,-19 0,18 0,-17 0,0 0,-1 0,18 0,-35 0,0 0,0 0,0 0,0 0,17 0,1 0,-18 0,17 0,-17 0,0 0,18 0,-1 0,-17 0,18 0,-1 0,1 0,0 0,34 0,36 0,1 0,34 0,18 0,0 0,0 0,-35 0,17 0,-17 0,17 0,-35 0,1 0,-1 0,35 0,-17 0,17 0,1 0,-19 0,19 0,-19 0,-16 0,16 0,-17 0,1 0,-19 0,18 0,-17 0,17 0,-18 0,18 0,18 0,-35 0,17 0,-18 0,18-18,-17 1,-1-1,-17 1,0 17,-18-18,18 0,0 1,-18 17,0 0,0 0,-17 0,17 0,-35 0,-35 0</inkml:trace>
  <inkml:trace contextRef="#ctx0" brushRef="#br0" timeOffset="19594">1023 3290,'18'0,"-1"0,19 0,17-17,17-1,36 0,0 18,17 0,18 0,1 0,-19 0,1 0,-1-17,0 17,-34 0,16 0,-16 0,17 0,17-18,-17 1,-18 17,35 0,36 0,-18 17,36 1,-36-18,18 0,-1 0,-17 0,1 0,-19 0,1 0,-1 0,0 0,-34 0,34 0,1 0,-1 0,1 0,-1 0,-17 0,17 0,-17 0,-18 0,36 0,-18 0,17 0,1 0,-1 0,-17 0,17 0,1 0,-1 0,1 0,-1 0,-35 0,18 0,-35 0,-1 0,-17 0,18 0,-18 0,-36 0,1 0</inkml:trace>
  <inkml:trace contextRef="#ctx0" brushRef="#br0" timeOffset="22932">11130 3449,'0'0,"0"0,0 0,18 0,17 0,-17 0,-1 0,-17 0,36 0,-19 0,19 0,-19 0,19 0,16 0,-16 0,17 0,0 18,17-1,18 1,-17-18,-1 0,36 0,0 18,-18-18,1 17,-1-17,18 0,17 0,-35 0,18 0,0 0,-18 0,18 0,-18 0,-17 0,17 0,-35 0,0 0,17 0,-17 0,18 0,35 0,17 0,0 0,19 0,-1 0,35 0,0 0,19 0,-1 0,0 0,0 0,-36 0,19 0,-36 0,0 0,18 0,-18 0,-18 0,1 0,-1 0,-35 0,36 0,-18 0,0 0,17 0,1 0,-1 0,18 0,-17 0,17 0,-18 0,1 0,17 0,17 0,-16 0,-1 0,0 0,35 0,-17 0,17 0,-35 0,1 0,34 0,-17 0,17 0,-35 0,36 0,-19 0,1 0,-18 0,0 0,-17-35,-1 17,-35 1,-17-1,17 1,-35-1,-18 0,18 18,0-17,0-1,0-17,0 17,0 0,-18 1,18-1,18 18,17-18,-18 18,19-17,-19 17,-35-18,-17 18,17 0</inkml:trace>
  <inkml:trace contextRef="#ctx0" brushRef="#br0" timeOffset="27160">3140 4243,'35'0,"0"0,-35 0,18 0,17 0,-35 0,36 0,-1 0,-17 0,-1 0,36 0,-18 0,1 0,17 0,-1 0,1-18,0 1,0 17,0-18,0 18,0-18,0 18,0-17,17-1,-17 0,0 18,-18 0,18-17,18 17,17 0,-17 0,-1 0,1 0,17 0,-17 0,-19 0,1 0,0 0,0 0,0 0,0 0,0 0,0 0,0 0,17 0,1 0,-1 0,1 0,0 17,17-17,-35 0,17 0,-17 18,18-18,17 18,-18-1,19 1,-19 0,36-18,-35 17,17-17,0 0,18 0,-18 0,18 0,-18 0,18 0,17 0,1 18,-36-18,35 0,-17 0,18 0,-36 0,0 0,0 0,-17 0,17 0,-17 0,-1 0,1 0,-1 0,1 0,-18 0,17 0,1 0,-1 0,-17 0,36 0,-1 0,35 0,18 0,36 0,17 0,0 0,0 0,-18 0,18 0,-17 0,-19 0,19 0,-1 0,-35 0,0 0,0 0,1 0,16 0,-17 0,1 0,-19 0,18 0,-17 0,-1 0,1 0,-19 0,-34 0,0 18,-1-18,18 0,-17 0,-1 0,1 0,17 0,-17 0,17 0,0 0,0 0,-17 0,17 0,-17 0,17 0,18 0,-18 0,35 0,1 0,17 0,-18 0,36 0,-53 0,17 0,1 0,-1 0,1 0,17 0,0 0,35 0,1 17,-36 1,35-18,-17 0,17 0,18 0,-35 0,18 0,-36 0,0 0,-18 0,-17 0,-18 0,18 0,-18 0,18 0,-18 0,18 0,18 0,-36 0,35 0,1 0,-18 0,-1 0,54 0,-35 0,17 0,-18 0,1 0,-18 0,-18 0,-18 0,1 0,-1 0,19 0,-19 0,18 0,18 0,18 0,-1 0,1 0,-18 0,-54 17,19-17,17 0,18 0,-18 0,0 0,-17 0,-1 0,-17 0,-17 0,17 0,-36 0,1 0,17 0,-17 0,-18 0,17 0,1 0,-18 0</inkml:trace>
  <inkml:trace contextRef="#ctx0" brushRef="#br0" timeOffset="30764">0 5354,'18'0,"-18"0,35 0,0 0,1 0,34 0,-17-18,18 1,17-1,-18 1,19-1,-19 0,1 1,35-1,17 18,0 0,19 0,34 0,18 0,-18 0,1 0,-1 0,-17 0,17 0,-35 0,1 0,-1 0,17 0,-17 0,1 0,-1 0,35 0,18 0,-17 0,17 0,-18 0,-17 0,17 0,-35 0,-17 0,-19 0,19 0,-36 0,18 0,-35 0,-19 0,-16 0,-19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1:42.83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0 168,'18'0,"-18"0,18 0,-18 0,17 0,1 0,-1 0,-17 0,18 0,0 0,-1 0,-17 0,18 0,0 0,-18 0,35 0,0 0,18 0,0 0,18 0,-1 0,1 0,-18 0,17 0,-17 0,0 0,0 0,18 0,-19 0,1 0,0 0,0 0,0 0,0 0,0 0,0 0,0 0,0 0,0 0,17 0,-17 0,0 0,0 0,35 0,-17 0,-1 0,36 0,-18 0,36 0,-1 0,1 0,-1 0,18 0,-17 0,-36 0,18 0,-18 0,0 0,-17 0,17 0,18 0,0 0,-18 0,18 0,-36 0,18 0,18 0,0 0,-18 0,18 0,-18 0,36 0,-1 0,1 0,-1 0,1 0,-36 0,35 0,-17 0,-18 0,36 0,-18 0,17 0,-17 0,17 0,1 0,17 0,-18 0,1 0,-1 0,1 0,-36 0,18 0,0 0,-18 0,18 0,-36 0,1 0,35 0,-36 0,36 0,-35 0,-1 0,36 0,-18 0,-17 0,17 0,-17 0,-1 0,36 0,-36 0,1 0,0 0,-2 0,19 0,-17 0,-1 0,36 0,-35 0,-1 0,1 0,35 0,-18 0,18 0,17 0,1 0,-1 0,1 0,-19 0,54 0,-18 0,0 0,1 0,-1 0,-18 0,-17 0,-18 0,18 0,-35 0,-1 0,1 0,-18 0,-18 0,0-11,0 11,1-11,34 0,-17 11,0-12,0 12,0-11,0 11,0 0,17 0,19 0,-19 0,1 0,34 0,-34 0,0 0,-1 0,1 0,-1 0,-17 0,0 0,-18 0,1 0,-1 0,0 0,-17 0,-1-11,19 11,-19 0,1-11,17 11,1 0,-19 0,1 0,17 0,-17 0,17-11,0 11,-35 0,36 0,-19 0,-17 0,36 0,-1 0,-18 0,19 0,-1 0,18 0,0 0,17 0,-17 0,0 0,18 0,-1 11,19-11,-1 0,18 0,-18 0,-18 0,36 0,0 0,-18 0,18 0,17 0,-34 0,16 0,-16 0,34 0,-17 0,-18 0,-17 0,35 0,-36 0,36 0,-18 0,18 0,-18 0,18 0,-35 0,-1 0,1 0,-18-11,0 11,-18-12,0 12,18 0,-35-11,-1 11,19-11,-19 11,1-11,17 11,-17 0,17-12,18 12,0-11,-18 11,18-11,0 11,0 0,-18 0,0 0,1 0,-19 0,1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1:50.974"/>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0 109,'0'0,"18"0,17 0,0 0,1 0,17 0,17 0,36 0,-18 0,18 0,18 0,-36 0,35 0,-17 0,-18 0,0-17,-17-1,17 0,-17 1,-1 17,1 0,17 0,-35 0,17 0,-17-18,0 18,0 0,-17 0,16 0,19-17,-18 17,-18 0,18 0,0 0,18 0,-1 0,1 0,17 0,-18 0,19 17,-19 1,-17-18,0 17,0-17,17 18,1 0,-18-1,35 1,-17-18,17 18,-18-1,1 1,17-18,-17 18,-36-18,18 0,0 0,0 0,35 0,-17 0,-1 0,1 0,-1 0,18 0,-17 0,0 0,34 0,-16 0,34 0,1 0,-1 0,0 0,19 0,-1 0,0 0,18 0,-36 0,0 0,-34 0,17 0,-18 0,18 0,-18 0,0 0,-35 0,0 0,-18 0,-17 0,-1 0,1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1:54.343"/>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0 172,'0'-18,"0"18,17 0,-17 0,18 0,-18 0,18 0,-1 0,19 0,-1 0,53-17,0-1,53-17,-17 17,-1 0,1 1,-1-1,-35 18,18 0,-18 0,1 0,-36 0,-1 0,1 0,-17 0,17 0,-1 0,1 0,-17 0,17 0,35 0,-18 0,1 0,-1 0,36 0,-35 0,-1 0,1 0,17 0,-17 0,-1 0,1 0,17 0,-17 0,17 0,18 0,-36 0,36 0,-36 0,1 0,35 0,-36 0,1 0,0 0,17 0,0 0,-17 0,17 0,-18 0,18 0,18 0,-18 0,18 0,18 0,-1 0,1 0,-36 0,18 0,-18 0,18 0,-36 0,1 0,-18 0,0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11.220"/>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0,'0'0,"17"0,18 0,-17 0,17 0,18 0,-17 0,-1 0,18 0,-18 0,18 0,0 17,17-17,1 18,-1 0,36-1,0 1,0 0,-18-1,18 1,18 0,-1-1,0 1,1 0,-18-1,17 1,36-1,-18-17,0 0,0 0,36 0,-19 0,36 0,0 0,1 0,-1 0,0 0,17 0,-17 0,18 0,-36 0,-17 0,-18 0,18-17,-36-1,-34 18,16-17,1-1,-35 0,17 1,-35 17,0 0,0 0,0 0,-18 0,0 0,1 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20.908"/>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40,'0'-17,"18"17,-18 0,18 0,-1 0,19 0,-1 0,18 0,0 0,17 0,-17 0,0 0,0 0,0 0,-18 0,0 0,1 0,17 0,0 0,-1 0,-16 0,17 0,-18 0,18 0,-18 0,18 0,-18 0,1 0,17 0,-18 0,0 0,18 0,0 0,0 17,17 1,-17-18,18 18,-18-1,17-17,-17 18,0-1,35 1,-17-18,-18 0,0 0,17 0,18 0,-17 0,17 0,18 0,-18 0,18 0,-35 0,34 18,1-18,-17 0,16 0,-16 0,16 0,-16 0,16 0,-16 0,16 0,1 0,-35 17,35 1,-36-18,36 0,-18 0,18 0,-18 0,18 0,-18 0,18 0,-18 0,18 0,0 0,-18 0,18 0,-18 0,18 0,-18 0,0 0,-17 0,0 0,-19 0,1 0,0 0,0 0,0 0,0 0,0 0,0 0,0 0,-18 0,0 0,-17 0,17 0,-17 0,0 0,-18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28.879"/>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57,'0'0,"0"0,36 0,-19 0,36 0,-18 0,1 0,17 0,0 0,-1 0,1 0,0 0,18 0,-18 0,17 0,-17 0,0 0,0-18,0 1,-18-1,1 18,16 0,-16 0,-1 0,18 0,0 0,0 0,0 0,0 0,-1 0,19 0,0 0,-1 18,18-1,-17 1,-1-1,19 1,-36-18,17 0,-17 18,18-1,-18-17,-1 0,1 0,0 0,-17 18,16-18,19 0,17 0,-17 0,-1 0,36 0,-35 0,-1 0,1 0,-1 0,19 0,-19 0,1 0,-18 0,0 0,-1 0,1-18,36 1,-19-1,18 0,-17 1,17 17,-17-18,-1 18,36-17,-35 17,17 0,0 0,18 0,-36 0,1 0,-1 0,19 0,-19 0,-17 0,18 0,-18 0,17 0,-17 0,18 0,-1 0,18 0,-35 0,18 0,-1 0,36 0,-35 0,-1 0,36 0,-35 0,-1 0,1 0,17 0,-17 0,-1 0,1 0,-1 0,18 0,-35 0,-17 0,-1 0,-17 0,17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34.199"/>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0,'0'0,"0"0,17 0,-17 0,36 0,-1 0,-18 0,19 0,-1 0,18 0,0 0,17 0,19 0,-19 0,18 0,1 0,-1 0,18 0,-18 0,18 0,-36 0,36 0,-35 0,-1 0,36 0,-36 0,1 0,0 0,34 0,-34 0,0 0,17 0,-18 0,1 0,-18 0,17 0,-17 0,0 0,18 0,-18 0,17 0,-17 0,0 0,0 0,0 0,0 0,0 0,0 0,0 0,-18 0,18 0,17 0,-34 18,16-18,1 0,0 0,18 0,-18 0,0 0,0 0,0 0,17 0,-17 0,35 0,-35 0,0 0,0 0,0 0,0 0,0 0,17 0,-17 0,18 0,-18 0,0 0,17 0,-17 0,0 0,35 0,-17 18,35-1,17 1,0 0,1-1,-18 1,-18 0,18-1,-18 1,-35-1,0-17,0 18,-18-18,0 0,18 0,-18 0,1 0,-1 0,0 0,18 0,18 18,-1-1,1-17,35 0,0 18,-18-18,18 18,-1-1,-34-17,0 0,-1 0,1 0,17 0,-18 0,19 0,16 0,1 0,-18 0,18 0,18 0,-18 0,17 0,-17 0,-18 0,36 0,-19 0,-16 0,16 0,1 0,-18 0,18 0,-18 0,18 0,-17 0,-1 0,-18 0,18 0,1 0,-19 0,1 0,-1 0,36 0,-18 0,1 0,-19 0,18 0,0 0,1 0,-19 0,18 0,-17 0,0 0,-1 0,-17 0,18 0,17 0,-18 0,1 0,-1 0,19 0,-19 0,1 0,-1 0,36 0,-35 0,35 0,-18 0,18 0,-18 0,18 0,-36 0,1 0,-1 0,36 0,0 0,-18 0,18 0,-18 0,18 0,-18 0,0 0,1 0,-19 0,36 0,-18 0,18 0,0 0,-18 0,18 0,-18 0,18 0,17 0,-34 0,34 0,0 0,1 0,-1 0,1 0,-18 0,17 0,36 0,-53 0,53 0,-36 0,18 0,0 0,0 0,0 0,18 0,-35 0,-36 0,-35 0,0-17,-36 17</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41.453"/>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89,'0'0,"18"0,0 0,-18 0,17 0,1 0,-1 0,-17 0,18 0,17 0,-17 0,17-18,1 1,-1 17,18-18,0 18,17 0,36 0,18 0,-36 0,18 0,-18 0,18 0,-36 0,1 0,-18 0,0 0,17 0,-17 0,0 0,0 0,0 0,0 0,0 0,0 0,17 0,-17 0,18 0,-1 0,18 0,-17 0,-1 0,-17 0,0 0,0 0,-18 0,36 0,-18 0,17 0,1 0,35 0,17 18,1-1,-1 1,-35-18,18 17,0 1,-18-18,1 18,16-1,-16 1,16 0,-34-18,17 0,-35 0,0 0,-18 0,-17 0,0 0,34 0,-34 0,17 0,1 0,-1 0,18 0,-18 0,0 0,18 0,-17 0,17 0,17 17,-35 1,1-18,-19 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44.651"/>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31,'0'0,"0"0,17 0,-17 0,18 0,-18 0,18 0,-1 0,18 0,1 0,-1 0,18 0,0 0,17 0,36 0,-18 0,1 0,-19 0,1-18,17 18,-18 0,1 0,35 0,-18 0,18 0,-36 0,19 0,-1 0,-18 18,36 0,-18-1,1 1,16-1,1 1,0 0,-18-18,18 17,0 1,-18-18,36 0,-18 0,17 0,-35 18,18-1,0 1,0 0,-18-18,18 0,-18 0,18 0,-18 0,0 0,-17 0,-1 0,1 0,17 0,-17 0,17 0,0 0,-18 0,1 0,0 0,34 0,-34 0,0 0,34 0,-16 0,16 0,-16 0,34 0,1 0,-1 0,18 0,18 0,-18 0,0 0,0 0,36 0,-19 0,-17 0,36 0,-36 0,0 0,18 0,-18 0,18 0,17 0,-35 0,36 0,-19 0,19 0,-19 0,19 0,-18 0,17 0,0 0,-17 0,35 0,0 0,0 0,0 0,0 0,-35 0,-18 0,18 0,-53 0,52 0,-16 0,-1 0,0 0,0 0,18 0,-18 17,0 1,18-18,-18 17,-18-17,-52 0,-1 0,-17 0,0 0,-35 0</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3:48.286"/>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31,'17'0,"-17"0,18 0,-18 0,17 0,1 0,-18 0,18 0,-18 0,35 0,0 0,36-17,-1 17,19 0,34 0,1 0,17 0,-18 0,1 0,-1 0,1 0,-36 0,0 0,-18 0,-17 0,0 0,18 0,-18 0,17 0,19 0,-19 0,1 0,-1 0,1 0,35 0,-1 0,-16 0,-19 0,18 0,1 0,16 0,-34 0,17 0,0 0,-17 0,-18 0,0 0,17 0,1 0,17 0,-17 0,-1 0,36 0,-35 0,34 0,-16 0,34 0,18 0,0 0,-17 0,17 0,-18 0,1 0,-1 0,-17 0,18 0,-19 0,54 0,-18 0,0 0,0 0,36 0,-36 0,0 0,-17 0,-1 0,1 0,-19 0,-34 0,-18 0,0 0,0 0,-18 0,0 0,0 0</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7:23.488"/>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0,'0'0,"0"0,0 0,18 0,-1 0,-17 0,18 0,17 0,-17 0,17 0,18 0,0 0,18 0,-36 17,18-17,-18 18,0-18,18 0,-17 0,-1 0,18 0,-18 0,18 0,-18 0,18 0,-18 0,1 0,-19 0,19 0,-1 0,-17 0,17 0,0 0,18 0,0 0,17 18,36-1,-18-17,18 0,-18 18,54 0,-54-1,18-17,-18 0,18 0,0 0,-1 0,1 0,18 0,-1 0,1 0,-19 0,19 0,-36 0,0 0,36 0,-1 0,-35 0,36 0,-18 0,-18 0,18 0,0 0,-18 0,18 0,-36 0,-17 0,0 0,-18 0,1 0,-36 0,17 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28.36041" units="1/cm"/>
          <inkml:channelProperty channel="Y" name="resolution" value="28.34646" units="1/cm"/>
        </inkml:channelProperties>
      </inkml:inkSource>
      <inkml:timestamp xml:id="ts0" timeString="2016-08-17T12:07:28.621"/>
    </inkml:context>
    <inkml:brush xml:id="br0">
      <inkml:brushProperty name="width" value="0.05292" units="cm"/>
      <inkml:brushProperty name="height" value="0.05292" units="cm"/>
      <inkml:brushProperty name="color" value="#EA700D"/>
      <inkml:brushProperty name="fitToCurve" value="1"/>
    </inkml:brush>
  </inkml:definitions>
  <inkml:trace contextRef="#ctx0" brushRef="#br0">0 45,'0'0,"0"0,17 0,-17 0,18 0,17 0,-17 0,17-17,1 17,-19 0,18 0,1 0,-1 0,-17 0,17 0,-17 0,-18 0,17 0,18 0,-17 0,0 0,-1 0,19 0,-19 0,1 17,17-17,1 0,-1 0,0 18,0-18,18 0,-17 0,-1 0,0 0,0 0,18 0,-17 0,-19 0,1 0,35 0,-36 0,19 0,-19 0,36 0,-18 0,1 0,-1 0,-17 0,35 0,-18 0,0 0,0 0,1 0,-1 0,18 0,0 0,0 0,0 0,0 0,0 0,-18 0,18 0,0 0,-18 0,18-18,0 18,-18 0,18 0,-18 0,18 0,0 0,0 0,0-17,-18 17,18 0,0 0,18 0,-1 0,18 0,-17 0,-1 0,36 0,-35 0,-1 0,1 0,17 0,-17 0,-1 0,1 0,-1 0,36 0,-35 0,-1 0,36 0,0 0,0 0,17 0,36 0,-18 0,0 0,0 0,-17 0,17 0,-18 0,-17 0,-35 0,-1 0,-17 0,-17 0,-1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FA1C617-5869-492B-9FBD-B187E5E8408E}" type="datetimeFigureOut">
              <a:rPr lang="en-US" smtClean="0"/>
              <a:pPr/>
              <a:t>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A1C617-5869-492B-9FBD-B187E5E8408E}" type="datetimeFigureOut">
              <a:rPr lang="en-US" smtClean="0"/>
              <a:pPr/>
              <a:t>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A1C617-5869-492B-9FBD-B187E5E8408E}" type="datetimeFigureOut">
              <a:rPr lang="en-US" smtClean="0"/>
              <a:pPr/>
              <a:t>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FA1C617-5869-492B-9FBD-B187E5E8408E}" type="datetimeFigureOut">
              <a:rPr lang="en-US" smtClean="0"/>
              <a:pPr/>
              <a:t>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FA1C617-5869-492B-9FBD-B187E5E8408E}" type="datetimeFigureOut">
              <a:rPr lang="en-US" smtClean="0"/>
              <a:pPr/>
              <a:t>2/18/2022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FA1C617-5869-492B-9FBD-B187E5E8408E}" type="datetimeFigureOut">
              <a:rPr lang="en-US" smtClean="0"/>
              <a:pPr/>
              <a:t>2/18/2022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A1C617-5869-492B-9FBD-B187E5E8408E}" type="datetimeFigureOut">
              <a:rPr lang="en-US" smtClean="0"/>
              <a:pPr/>
              <a:t>2/18/2022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A1C617-5869-492B-9FBD-B187E5E8408E}" type="datetimeFigureOut">
              <a:rPr lang="en-US" smtClean="0"/>
              <a:pPr/>
              <a:t>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A1C617-5869-492B-9FBD-B187E5E8408E}" type="datetimeFigureOut">
              <a:rPr lang="en-US" smtClean="0"/>
              <a:pPr/>
              <a:t>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A1C617-5869-492B-9FBD-B187E5E8408E}" type="datetimeFigureOut">
              <a:rPr lang="en-US" smtClean="0"/>
              <a:pPr/>
              <a:t>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A1C617-5869-492B-9FBD-B187E5E8408E}" type="datetimeFigureOut">
              <a:rPr lang="en-US" smtClean="0"/>
              <a:pPr/>
              <a:t>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BBDD27-48EB-41CF-BFEF-3143EF51D1B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A1C617-5869-492B-9FBD-B187E5E8408E}" type="datetimeFigureOut">
              <a:rPr lang="en-US" smtClean="0"/>
              <a:pPr/>
              <a:t>2/18/2022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BDD27-48EB-41CF-BFEF-3143EF51D1B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6.png"/><Relationship Id="rId4" Type="http://schemas.openxmlformats.org/officeDocument/2006/relationships/customXml" Target="../ink/ink2.xml"/><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14.png"/><Relationship Id="rId18" Type="http://schemas.openxmlformats.org/officeDocument/2006/relationships/customXml" Target="../ink/ink13.xm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customXml" Target="../ink/ink10.xml"/><Relationship Id="rId17" Type="http://schemas.openxmlformats.org/officeDocument/2006/relationships/image" Target="../media/image16.png"/><Relationship Id="rId2" Type="http://schemas.openxmlformats.org/officeDocument/2006/relationships/customXml" Target="../ink/ink5.xml"/><Relationship Id="rId16" Type="http://schemas.openxmlformats.org/officeDocument/2006/relationships/customXml" Target="../ink/ink12.xml"/><Relationship Id="rId1" Type="http://schemas.openxmlformats.org/officeDocument/2006/relationships/slideLayout" Target="../slideLayouts/slideLayout1.xml"/><Relationship Id="rId6" Type="http://schemas.openxmlformats.org/officeDocument/2006/relationships/customXml" Target="../ink/ink7.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9.xml"/><Relationship Id="rId19" Type="http://schemas.openxmlformats.org/officeDocument/2006/relationships/image" Target="../media/image17.png"/><Relationship Id="rId4" Type="http://schemas.openxmlformats.org/officeDocument/2006/relationships/customXml" Target="../ink/ink6.xml"/><Relationship Id="rId9" Type="http://schemas.openxmlformats.org/officeDocument/2006/relationships/image" Target="../media/image12.png"/><Relationship Id="rId14" Type="http://schemas.openxmlformats.org/officeDocument/2006/relationships/customXml" Target="../ink/ink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SIMD Instruction Set Extensions for Multimedia</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609600"/>
            <a:ext cx="8915400" cy="6096000"/>
          </a:xfrm>
        </p:spPr>
        <p:txBody>
          <a:bodyPr>
            <a:noAutofit/>
          </a:bodyPr>
          <a:lstStyle/>
          <a:p>
            <a:pPr marL="457200" indent="-457200" algn="just">
              <a:buFont typeface="Arial" pitchFamily="34" charset="0"/>
              <a:buChar char="•"/>
            </a:pPr>
            <a:r>
              <a:rPr lang="en-US" sz="2400" dirty="0">
                <a:solidFill>
                  <a:schemeClr val="tx1"/>
                </a:solidFill>
              </a:rPr>
              <a:t>SIMD Multimedia Extensions for handling multimedia applications are: </a:t>
            </a:r>
          </a:p>
          <a:p>
            <a:pPr marL="2286000" lvl="4" indent="-457200" algn="just">
              <a:buFont typeface="Arial" pitchFamily="34" charset="0"/>
              <a:buChar char="•"/>
            </a:pPr>
            <a:r>
              <a:rPr lang="en-US" dirty="0">
                <a:solidFill>
                  <a:schemeClr val="tx1"/>
                </a:solidFill>
              </a:rPr>
              <a:t>MMX (Multimedia Extensions)</a:t>
            </a:r>
          </a:p>
          <a:p>
            <a:pPr marL="2286000" lvl="4" indent="-457200" algn="just">
              <a:buFont typeface="Arial" pitchFamily="34" charset="0"/>
              <a:buChar char="•"/>
            </a:pPr>
            <a:r>
              <a:rPr lang="en-US" dirty="0">
                <a:solidFill>
                  <a:schemeClr val="tx1"/>
                </a:solidFill>
              </a:rPr>
              <a:t>SSX (Streaming SIMD Extensions )</a:t>
            </a:r>
          </a:p>
          <a:p>
            <a:pPr marL="2286000" lvl="4" indent="-457200" algn="just">
              <a:buFont typeface="Arial" pitchFamily="34" charset="0"/>
              <a:buChar char="•"/>
            </a:pPr>
            <a:r>
              <a:rPr lang="en-US">
                <a:solidFill>
                  <a:schemeClr val="tx1"/>
                </a:solidFill>
              </a:rPr>
              <a:t>AVX </a:t>
            </a:r>
            <a:r>
              <a:rPr lang="en-US" dirty="0">
                <a:solidFill>
                  <a:schemeClr val="tx1"/>
                </a:solidFill>
              </a:rPr>
              <a:t>(Advanced Vector Extensions)</a:t>
            </a:r>
          </a:p>
          <a:p>
            <a:pPr marL="457200" indent="-457200" algn="just">
              <a:buFont typeface="Arial" pitchFamily="34" charset="0"/>
              <a:buChar char="•"/>
            </a:pPr>
            <a:r>
              <a:rPr lang="en-US" sz="2400" dirty="0">
                <a:solidFill>
                  <a:schemeClr val="tx1"/>
                </a:solidFill>
              </a:rPr>
              <a:t>These extensions started with the simple observation that many media applications operate on narrower data types than the 32-bit processors were optimized for. </a:t>
            </a:r>
          </a:p>
          <a:p>
            <a:pPr marL="457200" indent="-457200" algn="just">
              <a:buFont typeface="Arial" pitchFamily="34" charset="0"/>
              <a:buChar char="•"/>
            </a:pPr>
            <a:r>
              <a:rPr lang="en-US" sz="2400" dirty="0">
                <a:solidFill>
                  <a:schemeClr val="tx1"/>
                </a:solidFill>
              </a:rPr>
              <a:t>Many graphics systems used 8 bits to represent each of the three primary colors plus 8 bits for transparency. Audio samples are usually represented with 8 or 16 bits. </a:t>
            </a:r>
          </a:p>
          <a:p>
            <a:pPr marL="457200" indent="-457200" algn="just">
              <a:buFont typeface="Arial" pitchFamily="34" charset="0"/>
              <a:buChar char="•"/>
            </a:pPr>
            <a:r>
              <a:rPr lang="en-US" sz="2400" dirty="0">
                <a:solidFill>
                  <a:schemeClr val="tx1"/>
                </a:solidFill>
              </a:rPr>
              <a:t>By partitioning the carry chains within, say, a 256-bit adder, a processor could perform simultaneous operations on short vectors of thirty-two 8-bit operands, sixteen 16-bit operands, eight 32-bit operands, or four 64-bit operands. </a:t>
            </a:r>
          </a:p>
          <a:p>
            <a:pPr marL="457200" indent="-457200" algn="just">
              <a:buFont typeface="Arial" pitchFamily="34" charset="0"/>
              <a:buChar char="•"/>
            </a:pPr>
            <a:r>
              <a:rPr lang="en-US" sz="2400" dirty="0">
                <a:solidFill>
                  <a:schemeClr val="tx1"/>
                </a:solidFill>
              </a:rPr>
              <a:t>The additional cost of such partitioned adders was small.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609600"/>
            <a:ext cx="8915400" cy="6096000"/>
          </a:xfrm>
        </p:spPr>
        <p:txBody>
          <a:bodyPr>
            <a:noAutofit/>
          </a:bodyPr>
          <a:lstStyle/>
          <a:p>
            <a:pPr marL="457200" indent="-457200" algn="just">
              <a:buFont typeface="Arial" pitchFamily="34" charset="0"/>
              <a:buChar char="•"/>
            </a:pPr>
            <a:r>
              <a:rPr lang="en-US" sz="2400" dirty="0">
                <a:solidFill>
                  <a:schemeClr val="tx1"/>
                </a:solidFill>
              </a:rPr>
              <a:t>Like vector instructions, a SIMD instruction specifies the same operation on vectors of data. </a:t>
            </a:r>
          </a:p>
          <a:p>
            <a:pPr marL="457200" indent="-457200" algn="just">
              <a:buFont typeface="Arial" pitchFamily="34" charset="0"/>
              <a:buChar char="•"/>
            </a:pPr>
            <a:r>
              <a:rPr lang="en-US" sz="2400" dirty="0">
                <a:solidFill>
                  <a:schemeClr val="tx1"/>
                </a:solidFill>
              </a:rPr>
              <a:t>Unlike vector machines with large register files, which can hold as many as sixty-four 64-bit elements in each of 8 vector registers, SIMD instructions tend to specify </a:t>
            </a:r>
            <a:r>
              <a:rPr lang="en-US" sz="2400" dirty="0">
                <a:solidFill>
                  <a:srgbClr val="FF0000"/>
                </a:solidFill>
              </a:rPr>
              <a:t>fewer operands </a:t>
            </a:r>
            <a:r>
              <a:rPr lang="en-US" sz="2400" dirty="0">
                <a:solidFill>
                  <a:schemeClr val="tx1"/>
                </a:solidFill>
              </a:rPr>
              <a:t>and hence use much </a:t>
            </a:r>
            <a:r>
              <a:rPr lang="en-US" sz="2400" dirty="0">
                <a:solidFill>
                  <a:srgbClr val="FF0000"/>
                </a:solidFill>
              </a:rPr>
              <a:t>smaller register files</a:t>
            </a:r>
            <a:r>
              <a:rPr lang="en-US" sz="2400" dirty="0">
                <a:solidFill>
                  <a:schemeClr val="tx1"/>
                </a:solidFill>
              </a:rPr>
              <a:t>.</a:t>
            </a:r>
          </a:p>
          <a:p>
            <a:pPr marL="457200" indent="-457200" algn="just">
              <a:buFont typeface="Arial" pitchFamily="34" charset="0"/>
              <a:buChar char="•"/>
            </a:pPr>
            <a:r>
              <a:rPr lang="en-US" sz="2400" dirty="0">
                <a:solidFill>
                  <a:schemeClr val="tx1"/>
                </a:solidFill>
              </a:rPr>
              <a:t>SIMD extensions have three major omissions:</a:t>
            </a:r>
          </a:p>
          <a:p>
            <a:pPr marL="457200" indent="-457200" algn="just">
              <a:buFont typeface="+mj-lt"/>
              <a:buAutoNum type="arabicPeriod"/>
            </a:pPr>
            <a:r>
              <a:rPr lang="en-US" sz="2400" dirty="0">
                <a:solidFill>
                  <a:schemeClr val="tx1"/>
                </a:solidFill>
              </a:rPr>
              <a:t>Multimedia SIMD extensions </a:t>
            </a:r>
            <a:r>
              <a:rPr lang="en-US" sz="2400" dirty="0">
                <a:solidFill>
                  <a:srgbClr val="FF0000"/>
                </a:solidFill>
              </a:rPr>
              <a:t>fix the number of data operands </a:t>
            </a:r>
            <a:r>
              <a:rPr lang="en-US" sz="2400" dirty="0">
                <a:solidFill>
                  <a:schemeClr val="tx1"/>
                </a:solidFill>
              </a:rPr>
              <a:t>	in the opcode. </a:t>
            </a:r>
          </a:p>
          <a:p>
            <a:pPr marL="457200" algn="just">
              <a:buFont typeface="Wingdings" pitchFamily="2" charset="2"/>
              <a:buChar char="ü"/>
            </a:pPr>
            <a:r>
              <a:rPr lang="en-US" sz="2400" dirty="0">
                <a:solidFill>
                  <a:schemeClr val="tx1"/>
                </a:solidFill>
              </a:rPr>
              <a:t>	Vector architectures have a vector length register that specifies 	the number of operands for the current operation.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457200"/>
            <a:ext cx="8915400" cy="6248400"/>
          </a:xfrm>
        </p:spPr>
        <p:txBody>
          <a:bodyPr>
            <a:noAutofit/>
          </a:bodyPr>
          <a:lstStyle/>
          <a:p>
            <a:pPr marL="457200" indent="-457200" algn="just"/>
            <a:r>
              <a:rPr lang="en-US" sz="2300" dirty="0">
                <a:solidFill>
                  <a:schemeClr val="tx1"/>
                </a:solidFill>
              </a:rPr>
              <a:t>2.	Multimedia SIMD </a:t>
            </a:r>
            <a:r>
              <a:rPr lang="en-US" sz="2300" dirty="0">
                <a:solidFill>
                  <a:srgbClr val="FF0000"/>
                </a:solidFill>
              </a:rPr>
              <a:t>does not offer </a:t>
            </a:r>
            <a:r>
              <a:rPr lang="en-US" sz="2300" dirty="0">
                <a:solidFill>
                  <a:schemeClr val="tx1"/>
                </a:solidFill>
              </a:rPr>
              <a:t>the more sophisticated addressing modes of vector architectures, namely </a:t>
            </a:r>
            <a:r>
              <a:rPr lang="en-US" sz="2300" dirty="0" err="1">
                <a:solidFill>
                  <a:srgbClr val="FF0000"/>
                </a:solidFill>
              </a:rPr>
              <a:t>strided</a:t>
            </a:r>
            <a:r>
              <a:rPr lang="en-US" sz="2300" dirty="0">
                <a:solidFill>
                  <a:srgbClr val="FF0000"/>
                </a:solidFill>
              </a:rPr>
              <a:t> accesses </a:t>
            </a:r>
            <a:r>
              <a:rPr lang="en-US" sz="2300" dirty="0">
                <a:solidFill>
                  <a:schemeClr val="tx1"/>
                </a:solidFill>
              </a:rPr>
              <a:t>and </a:t>
            </a:r>
            <a:r>
              <a:rPr lang="en-US" sz="2300" dirty="0">
                <a:solidFill>
                  <a:srgbClr val="FF0000"/>
                </a:solidFill>
              </a:rPr>
              <a:t>gather-scatter accesses.</a:t>
            </a:r>
          </a:p>
          <a:p>
            <a:pPr marL="914400" lvl="1" indent="-457200" algn="just">
              <a:buFont typeface="Wingdings" pitchFamily="2" charset="2"/>
              <a:buChar char="ü"/>
            </a:pPr>
            <a:r>
              <a:rPr lang="en-US" sz="2300" dirty="0">
                <a:solidFill>
                  <a:schemeClr val="tx1"/>
                </a:solidFill>
              </a:rPr>
              <a:t>These features increase the number of programs that a vector compiler can successfully </a:t>
            </a:r>
            <a:r>
              <a:rPr lang="en-US" sz="2300" dirty="0" err="1">
                <a:solidFill>
                  <a:schemeClr val="tx1"/>
                </a:solidFill>
              </a:rPr>
              <a:t>vectorize</a:t>
            </a:r>
            <a:r>
              <a:rPr lang="en-US" sz="2300" dirty="0">
                <a:solidFill>
                  <a:schemeClr val="tx1"/>
                </a:solidFill>
              </a:rPr>
              <a:t>.</a:t>
            </a:r>
          </a:p>
          <a:p>
            <a:pPr algn="just"/>
            <a:r>
              <a:rPr lang="en-US" sz="2300" dirty="0">
                <a:solidFill>
                  <a:schemeClr val="tx1"/>
                </a:solidFill>
              </a:rPr>
              <a:t>3. 	Multimedia SIMD usually </a:t>
            </a:r>
            <a:r>
              <a:rPr lang="en-US" sz="2300" dirty="0">
                <a:solidFill>
                  <a:srgbClr val="FF0000"/>
                </a:solidFill>
              </a:rPr>
              <a:t>does not offer </a:t>
            </a:r>
            <a:r>
              <a:rPr lang="en-US" sz="2300" dirty="0">
                <a:solidFill>
                  <a:schemeClr val="tx1"/>
                </a:solidFill>
              </a:rPr>
              <a:t>the </a:t>
            </a:r>
            <a:r>
              <a:rPr lang="en-US" sz="2300" dirty="0">
                <a:solidFill>
                  <a:srgbClr val="FF0000"/>
                </a:solidFill>
              </a:rPr>
              <a:t>mask registers </a:t>
            </a:r>
            <a:r>
              <a:rPr lang="en-US" sz="2300" dirty="0">
                <a:solidFill>
                  <a:schemeClr val="tx1"/>
                </a:solidFill>
              </a:rPr>
              <a:t>to 	support conditional execution of elements as in vector 	architectures.</a:t>
            </a:r>
          </a:p>
        </p:txBody>
      </p:sp>
      <p:pic>
        <p:nvPicPr>
          <p:cNvPr id="1026" name="Picture 2"/>
          <p:cNvPicPr>
            <a:picLocks noChangeAspect="1" noChangeArrowheads="1"/>
          </p:cNvPicPr>
          <p:nvPr/>
        </p:nvPicPr>
        <p:blipFill>
          <a:blip r:embed="rId2"/>
          <a:srcRect/>
          <a:stretch>
            <a:fillRect/>
          </a:stretch>
        </p:blipFill>
        <p:spPr bwMode="auto">
          <a:xfrm>
            <a:off x="533400" y="3810000"/>
            <a:ext cx="8058150" cy="230505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533400"/>
            <a:ext cx="8915400" cy="6172200"/>
          </a:xfrm>
        </p:spPr>
        <p:txBody>
          <a:bodyPr>
            <a:noAutofit/>
          </a:bodyPr>
          <a:lstStyle/>
          <a:p>
            <a:pPr marL="457200" indent="-457200" algn="just">
              <a:buFont typeface="Arial" pitchFamily="34" charset="0"/>
              <a:buChar char="•"/>
            </a:pPr>
            <a:r>
              <a:rPr lang="en-US" sz="2400" dirty="0">
                <a:solidFill>
                  <a:schemeClr val="tx1"/>
                </a:solidFill>
              </a:rPr>
              <a:t>These omissions make it harder for the compiler to generate SIMD code and increase the difficulty of programming in SIMD assembly language.</a:t>
            </a:r>
          </a:p>
          <a:p>
            <a:pPr marL="457200" indent="-457200" algn="just">
              <a:buFont typeface="Arial" pitchFamily="34" charset="0"/>
              <a:buChar char="•"/>
            </a:pPr>
            <a:r>
              <a:rPr lang="en-US" sz="2400" dirty="0">
                <a:solidFill>
                  <a:schemeClr val="tx1"/>
                </a:solidFill>
              </a:rPr>
              <a:t>For the x86 architecture, the </a:t>
            </a:r>
            <a:r>
              <a:rPr lang="en-US" sz="2400" dirty="0">
                <a:solidFill>
                  <a:srgbClr val="FF66CC"/>
                </a:solidFill>
              </a:rPr>
              <a:t>MMX instructions added in 1996 </a:t>
            </a:r>
            <a:r>
              <a:rPr lang="en-US" sz="2400" dirty="0">
                <a:solidFill>
                  <a:schemeClr val="tx1"/>
                </a:solidFill>
              </a:rPr>
              <a:t>repurposed the </a:t>
            </a:r>
            <a:r>
              <a:rPr lang="en-US" sz="2400" dirty="0">
                <a:solidFill>
                  <a:srgbClr val="FF66CC"/>
                </a:solidFill>
              </a:rPr>
              <a:t>64-bit floating-point registers</a:t>
            </a:r>
            <a:r>
              <a:rPr lang="en-US" sz="2400" dirty="0">
                <a:solidFill>
                  <a:schemeClr val="tx1"/>
                </a:solidFill>
              </a:rPr>
              <a:t>, so the basic instructions could perform eight 8-bit operations or four 16-bit operations simultaneously. </a:t>
            </a:r>
          </a:p>
          <a:p>
            <a:pPr marL="457200" indent="-457200" algn="just">
              <a:buFont typeface="Arial" pitchFamily="34" charset="0"/>
              <a:buChar char="•"/>
            </a:pPr>
            <a:r>
              <a:rPr lang="en-US" sz="2400" dirty="0">
                <a:solidFill>
                  <a:schemeClr val="tx1"/>
                </a:solidFill>
              </a:rPr>
              <a:t>These were joined by parallel MAX and MIN operations, a wide variety of masking and conditional instructions, operations typically found in digital signal processors, and ad hoc instructions that were believed to be useful in important media libraries. </a:t>
            </a:r>
          </a:p>
          <a:p>
            <a:pPr marL="457200" indent="-457200" algn="just">
              <a:buFont typeface="Arial" pitchFamily="34" charset="0"/>
              <a:buChar char="•"/>
            </a:pPr>
            <a:r>
              <a:rPr lang="en-US" sz="2400" dirty="0">
                <a:solidFill>
                  <a:schemeClr val="tx1"/>
                </a:solidFill>
              </a:rPr>
              <a:t>The </a:t>
            </a:r>
            <a:r>
              <a:rPr lang="en-US" sz="2400" dirty="0">
                <a:solidFill>
                  <a:srgbClr val="FF66CC"/>
                </a:solidFill>
              </a:rPr>
              <a:t>Streaming SIMD Extensions (SSE) successor in 1999 </a:t>
            </a:r>
            <a:r>
              <a:rPr lang="en-US" sz="2400" dirty="0">
                <a:solidFill>
                  <a:schemeClr val="tx1"/>
                </a:solidFill>
              </a:rPr>
              <a:t>added separate registers that were </a:t>
            </a:r>
            <a:r>
              <a:rPr lang="en-US" sz="2400" dirty="0">
                <a:solidFill>
                  <a:srgbClr val="FF66CC"/>
                </a:solidFill>
              </a:rPr>
              <a:t>128 bits wide</a:t>
            </a:r>
            <a:r>
              <a:rPr lang="en-US" sz="2400" dirty="0">
                <a:solidFill>
                  <a:schemeClr val="tx1"/>
                </a:solidFill>
              </a:rPr>
              <a:t>, so now instructions could simultaneously perform sixteen 8-bit operations, or eight 16-bit operations, or four 32-bit operations.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533400"/>
            <a:ext cx="8915400" cy="6172200"/>
          </a:xfrm>
        </p:spPr>
        <p:txBody>
          <a:bodyPr>
            <a:noAutofit/>
          </a:bodyPr>
          <a:lstStyle/>
          <a:p>
            <a:pPr marL="457200" indent="-457200" algn="just">
              <a:buFont typeface="Arial" pitchFamily="34" charset="0"/>
              <a:buChar char="•"/>
            </a:pPr>
            <a:r>
              <a:rPr lang="en-US" sz="2400" dirty="0">
                <a:solidFill>
                  <a:schemeClr val="tx1"/>
                </a:solidFill>
              </a:rPr>
              <a:t>Intel soon added double-precision SIMD floating-point data types via </a:t>
            </a:r>
            <a:r>
              <a:rPr lang="en-US" sz="2400" dirty="0">
                <a:solidFill>
                  <a:srgbClr val="FF66CC"/>
                </a:solidFill>
              </a:rPr>
              <a:t>SSE2 in 2001, SSE3 in 2004, and SSE4 in 2007</a:t>
            </a:r>
            <a:r>
              <a:rPr lang="en-US" sz="2400" dirty="0">
                <a:solidFill>
                  <a:schemeClr val="tx1"/>
                </a:solidFill>
              </a:rPr>
              <a:t>. </a:t>
            </a:r>
          </a:p>
          <a:p>
            <a:pPr marL="457200" indent="-457200" algn="just">
              <a:buFont typeface="Arial" pitchFamily="34" charset="0"/>
              <a:buChar char="•"/>
            </a:pPr>
            <a:r>
              <a:rPr lang="en-US" sz="2400" dirty="0">
                <a:solidFill>
                  <a:schemeClr val="tx1"/>
                </a:solidFill>
              </a:rPr>
              <a:t>Instructions with four single-precision floating-point operations or two parallel double-precision operations increased the peak floating-point performance of the x86 computers, as long as programmers place the operands side by side. </a:t>
            </a:r>
          </a:p>
          <a:p>
            <a:pPr marL="457200" indent="-457200" algn="just">
              <a:buFont typeface="Arial" pitchFamily="34" charset="0"/>
              <a:buChar char="•"/>
            </a:pPr>
            <a:r>
              <a:rPr lang="en-US" sz="2400" dirty="0">
                <a:solidFill>
                  <a:schemeClr val="tx1"/>
                </a:solidFill>
              </a:rPr>
              <a:t>With each generation, they also added </a:t>
            </a:r>
            <a:r>
              <a:rPr lang="en-US" sz="2400" dirty="0">
                <a:solidFill>
                  <a:srgbClr val="FF66CC"/>
                </a:solidFill>
              </a:rPr>
              <a:t>ad hoc instructions </a:t>
            </a:r>
            <a:r>
              <a:rPr lang="en-US" sz="2400" dirty="0">
                <a:solidFill>
                  <a:schemeClr val="tx1"/>
                </a:solidFill>
              </a:rPr>
              <a:t>whose aim is to accelerate specific multimedia functions perceived to be important.</a:t>
            </a:r>
          </a:p>
          <a:p>
            <a:pPr marL="457200" indent="-457200" algn="just">
              <a:buFont typeface="Arial" pitchFamily="34" charset="0"/>
              <a:buChar char="•"/>
            </a:pPr>
            <a:r>
              <a:rPr lang="en-US" sz="2400" dirty="0">
                <a:solidFill>
                  <a:schemeClr val="tx1"/>
                </a:solidFill>
              </a:rPr>
              <a:t>The </a:t>
            </a:r>
            <a:r>
              <a:rPr lang="en-US" sz="2400" dirty="0">
                <a:solidFill>
                  <a:srgbClr val="FF66CC"/>
                </a:solidFill>
              </a:rPr>
              <a:t>Advanced Vector Extensions (AVX), added in 2010</a:t>
            </a:r>
            <a:r>
              <a:rPr lang="en-US" sz="2400" dirty="0">
                <a:solidFill>
                  <a:schemeClr val="tx1"/>
                </a:solidFill>
              </a:rPr>
              <a:t>, doubles the </a:t>
            </a:r>
            <a:r>
              <a:rPr lang="en-US" sz="2400" dirty="0">
                <a:solidFill>
                  <a:srgbClr val="FF66CC"/>
                </a:solidFill>
              </a:rPr>
              <a:t>width of the registers again to 256 bits </a:t>
            </a:r>
            <a:r>
              <a:rPr lang="en-US" sz="2400" dirty="0">
                <a:solidFill>
                  <a:schemeClr val="tx1"/>
                </a:solidFill>
              </a:rPr>
              <a:t>and thereby offers instructions that double the number of operations on all narrower data types. </a:t>
            </a:r>
            <a:endParaRPr lang="en-US" sz="23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228600" y="5257800"/>
            <a:ext cx="8686800" cy="685800"/>
          </a:xfrm>
        </p:spPr>
        <p:txBody>
          <a:bodyPr>
            <a:noAutofit/>
          </a:bodyPr>
          <a:lstStyle/>
          <a:p>
            <a:pPr algn="just"/>
            <a:r>
              <a:rPr lang="en-US" sz="1800" b="1" dirty="0">
                <a:solidFill>
                  <a:schemeClr val="tx1"/>
                </a:solidFill>
              </a:rPr>
              <a:t>Figure: </a:t>
            </a:r>
            <a:r>
              <a:rPr lang="en-US" sz="1800" dirty="0">
                <a:solidFill>
                  <a:schemeClr val="tx1"/>
                </a:solidFill>
              </a:rPr>
              <a:t>AVX instructions for x86 architecture useful in double-precision floating-point programs</a:t>
            </a:r>
          </a:p>
        </p:txBody>
      </p:sp>
      <p:pic>
        <p:nvPicPr>
          <p:cNvPr id="2051" name="Picture 3"/>
          <p:cNvPicPr>
            <a:picLocks noChangeAspect="1" noChangeArrowheads="1"/>
          </p:cNvPicPr>
          <p:nvPr/>
        </p:nvPicPr>
        <p:blipFill>
          <a:blip r:embed="rId2"/>
          <a:srcRect/>
          <a:stretch>
            <a:fillRect/>
          </a:stretch>
        </p:blipFill>
        <p:spPr bwMode="auto">
          <a:xfrm>
            <a:off x="228599" y="1219200"/>
            <a:ext cx="8610601" cy="37338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990600"/>
            <a:ext cx="8915400" cy="4343400"/>
          </a:xfrm>
        </p:spPr>
        <p:txBody>
          <a:bodyPr>
            <a:noAutofit/>
          </a:bodyPr>
          <a:lstStyle/>
          <a:p>
            <a:pPr algn="just"/>
            <a:r>
              <a:rPr lang="en-US" sz="2400" dirty="0">
                <a:solidFill>
                  <a:srgbClr val="FF66CC"/>
                </a:solidFill>
              </a:rPr>
              <a:t>Why are Multimedia SIMD Extensions so popular?</a:t>
            </a:r>
          </a:p>
          <a:p>
            <a:pPr marL="457200" indent="-457200" algn="just">
              <a:buFont typeface="Arial" pitchFamily="34" charset="0"/>
              <a:buChar char="•"/>
            </a:pPr>
            <a:r>
              <a:rPr lang="en-US" sz="2400" dirty="0">
                <a:solidFill>
                  <a:srgbClr val="FF66CC"/>
                </a:solidFill>
              </a:rPr>
              <a:t>First</a:t>
            </a:r>
            <a:r>
              <a:rPr lang="en-US" sz="2400" dirty="0">
                <a:solidFill>
                  <a:schemeClr val="tx1"/>
                </a:solidFill>
              </a:rPr>
              <a:t>, they cost little to add to the standard arithmetic unit and they were easy to implement. </a:t>
            </a:r>
          </a:p>
          <a:p>
            <a:pPr marL="457200" indent="-457200" algn="just">
              <a:buFont typeface="Arial" pitchFamily="34" charset="0"/>
              <a:buChar char="•"/>
            </a:pPr>
            <a:r>
              <a:rPr lang="en-US" sz="2400" dirty="0">
                <a:solidFill>
                  <a:srgbClr val="FF66CC"/>
                </a:solidFill>
              </a:rPr>
              <a:t>Second</a:t>
            </a:r>
            <a:r>
              <a:rPr lang="en-US" sz="2400" dirty="0">
                <a:solidFill>
                  <a:schemeClr val="tx1"/>
                </a:solidFill>
              </a:rPr>
              <a:t>, they require little extra state compared to vector architectures </a:t>
            </a:r>
            <a:r>
              <a:rPr lang="en-IN" sz="2400" dirty="0">
                <a:solidFill>
                  <a:schemeClr val="tx1"/>
                </a:solidFill>
              </a:rPr>
              <a:t>which is always a concern for context switch times</a:t>
            </a:r>
            <a:endParaRPr lang="en-US" sz="2400" dirty="0">
              <a:solidFill>
                <a:schemeClr val="tx1"/>
              </a:solidFill>
            </a:endParaRPr>
          </a:p>
          <a:p>
            <a:pPr marL="457200" indent="-457200" algn="just">
              <a:buFont typeface="Arial" pitchFamily="34" charset="0"/>
              <a:buChar char="•"/>
            </a:pPr>
            <a:r>
              <a:rPr lang="en-US" sz="2400" dirty="0">
                <a:solidFill>
                  <a:srgbClr val="FF66CC"/>
                </a:solidFill>
              </a:rPr>
              <a:t>Third</a:t>
            </a:r>
            <a:r>
              <a:rPr lang="en-US" sz="2400" dirty="0">
                <a:solidFill>
                  <a:schemeClr val="tx1"/>
                </a:solidFill>
              </a:rPr>
              <a:t>, you need a lot of memory bandwidth to support a vector architecture, which many computers don’t have. </a:t>
            </a:r>
          </a:p>
          <a:p>
            <a:pPr marL="457200" indent="-457200" algn="just">
              <a:buFont typeface="Arial" pitchFamily="34" charset="0"/>
              <a:buChar char="•"/>
            </a:pPr>
            <a:r>
              <a:rPr lang="en-US" sz="2400" dirty="0">
                <a:solidFill>
                  <a:srgbClr val="FF66CC"/>
                </a:solidFill>
              </a:rPr>
              <a:t>Fourth</a:t>
            </a:r>
            <a:r>
              <a:rPr lang="en-US" sz="2400" dirty="0">
                <a:solidFill>
                  <a:schemeClr val="tx1"/>
                </a:solidFill>
              </a:rPr>
              <a:t>, SIMD does not have to deal with problems in virtual memory when a single instruction that can generate 64 memory accesses can get a page fault in the middle of the vector.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838199"/>
          </a:xfrm>
        </p:spPr>
        <p:txBody>
          <a:bodyPr>
            <a:normAutofit/>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1219200"/>
            <a:ext cx="8915400" cy="5486400"/>
          </a:xfrm>
        </p:spPr>
        <p:txBody>
          <a:bodyPr>
            <a:noAutofit/>
          </a:bodyPr>
          <a:lstStyle/>
          <a:p>
            <a:pPr marL="457200" indent="-457200" algn="just">
              <a:buFont typeface="Arial" pitchFamily="34" charset="0"/>
              <a:buChar char="•"/>
            </a:pPr>
            <a:r>
              <a:rPr lang="en-US" sz="2400" dirty="0">
                <a:solidFill>
                  <a:schemeClr val="tx1"/>
                </a:solidFill>
              </a:rPr>
              <a:t>SIMD extensions use separate data transfers per SIMD group of operands that are aligned in memory, and so they cannot cross page boundaries. </a:t>
            </a:r>
          </a:p>
          <a:p>
            <a:pPr marL="457200" indent="-457200" algn="just">
              <a:buFont typeface="Arial" pitchFamily="34" charset="0"/>
              <a:buChar char="•"/>
            </a:pPr>
            <a:r>
              <a:rPr lang="en-US" sz="2400" dirty="0">
                <a:solidFill>
                  <a:schemeClr val="tx1"/>
                </a:solidFill>
              </a:rPr>
              <a:t>Another advantage of short, fixed-length “vectors” of SIMD is that it is easy to introduce instructions that can help with new media standards, such as instructions that perform permutations or instructions that consume either fewer or more operands than vectors can produce.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Grp="1" noChangeAspect="1" noChangeArrowheads="1"/>
          </p:cNvPicPr>
          <p:nvPr>
            <p:ph idx="1"/>
          </p:nvPr>
        </p:nvPicPr>
        <p:blipFill>
          <a:blip r:embed="rId2"/>
          <a:srcRect/>
          <a:stretch>
            <a:fillRect/>
          </a:stretch>
        </p:blipFill>
        <p:spPr bwMode="auto">
          <a:xfrm>
            <a:off x="381000" y="1371600"/>
            <a:ext cx="8153400" cy="4876800"/>
          </a:xfrm>
          <a:prstGeom prst="rect">
            <a:avLst/>
          </a:prstGeom>
          <a:noFill/>
          <a:ln w="9525">
            <a:noFill/>
            <a:miter lim="800000"/>
            <a:headEnd/>
            <a:tailEnd/>
          </a:ln>
          <a:effectLst/>
        </p:spPr>
      </p:pic>
      <p:sp>
        <p:nvSpPr>
          <p:cNvPr id="3" name="Title 1"/>
          <p:cNvSpPr txBox="1">
            <a:spLocks/>
          </p:cNvSpPr>
          <p:nvPr/>
        </p:nvSpPr>
        <p:spPr>
          <a:xfrm>
            <a:off x="152400" y="152401"/>
            <a:ext cx="8839200" cy="838199"/>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mj-lt"/>
                <a:ea typeface="+mj-ea"/>
                <a:cs typeface="+mj-cs"/>
              </a:rPr>
              <a:t>SIMD Instruction for</a:t>
            </a:r>
            <a:r>
              <a:rPr kumimoji="0" lang="en-US" sz="3200" b="1" i="0" u="none" strike="noStrike" kern="1200" cap="none" spc="0" normalizeH="0" noProof="0" dirty="0">
                <a:ln>
                  <a:noFill/>
                </a:ln>
                <a:solidFill>
                  <a:schemeClr val="tx1"/>
                </a:solidFill>
                <a:effectLst/>
                <a:uLnTx/>
                <a:uFillTx/>
                <a:latin typeface="+mj-lt"/>
                <a:ea typeface="+mj-ea"/>
                <a:cs typeface="+mj-cs"/>
              </a:rPr>
              <a:t> DAXPY</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533400"/>
            <a:ext cx="8915400" cy="6172200"/>
          </a:xfrm>
        </p:spPr>
        <p:txBody>
          <a:bodyPr>
            <a:noAutofit/>
          </a:bodyPr>
          <a:lstStyle/>
          <a:p>
            <a:pPr marL="457200" indent="-457200" algn="just"/>
            <a:r>
              <a:rPr lang="en-US" sz="2400" b="1" dirty="0">
                <a:solidFill>
                  <a:schemeClr val="tx1"/>
                </a:solidFill>
              </a:rPr>
              <a:t>Programming Multimedia SIMD Architectures</a:t>
            </a:r>
          </a:p>
          <a:p>
            <a:pPr marL="457200" indent="-457200" algn="just">
              <a:buFont typeface="Arial" pitchFamily="34" charset="0"/>
              <a:buChar char="•"/>
            </a:pPr>
            <a:r>
              <a:rPr lang="en-US" sz="2400" dirty="0">
                <a:solidFill>
                  <a:schemeClr val="tx1"/>
                </a:solidFill>
              </a:rPr>
              <a:t>By borrowing techniques from </a:t>
            </a:r>
            <a:r>
              <a:rPr lang="en-US" sz="2400" dirty="0" err="1">
                <a:solidFill>
                  <a:schemeClr val="tx1"/>
                </a:solidFill>
              </a:rPr>
              <a:t>vectorizing</a:t>
            </a:r>
            <a:r>
              <a:rPr lang="en-US" sz="2400" dirty="0">
                <a:solidFill>
                  <a:schemeClr val="tx1"/>
                </a:solidFill>
              </a:rPr>
              <a:t> compilers, compilers are starting to produce SIMD instructions automatically. </a:t>
            </a:r>
          </a:p>
          <a:p>
            <a:pPr marL="457200" indent="-457200" algn="just">
              <a:buFont typeface="Arial" pitchFamily="34" charset="0"/>
              <a:buChar char="•"/>
            </a:pPr>
            <a:r>
              <a:rPr lang="en-US" sz="2400" dirty="0">
                <a:solidFill>
                  <a:schemeClr val="tx1"/>
                </a:solidFill>
              </a:rPr>
              <a:t>For example, advanced compilers today can generate SIMD floating-point instructions to deliver much higher performance for scientific codes. </a:t>
            </a:r>
          </a:p>
          <a:p>
            <a:pPr marL="457200" indent="-457200" algn="just">
              <a:buFont typeface="Arial" pitchFamily="34" charset="0"/>
              <a:buChar char="•"/>
            </a:pPr>
            <a:r>
              <a:rPr lang="en-US" sz="2400" dirty="0">
                <a:solidFill>
                  <a:schemeClr val="tx1"/>
                </a:solidFill>
              </a:rPr>
              <a:t>However, programmers must be sure to align all the data in memory to the width of the SIMD unit on which the code is run to prevent the compiler from generating scalar instructions for otherwise </a:t>
            </a:r>
            <a:r>
              <a:rPr lang="en-US" sz="2400" dirty="0" err="1">
                <a:solidFill>
                  <a:schemeClr val="tx1"/>
                </a:solidFill>
              </a:rPr>
              <a:t>vectorizable</a:t>
            </a:r>
            <a:r>
              <a:rPr lang="en-US" sz="2400" dirty="0">
                <a:solidFill>
                  <a:schemeClr val="tx1"/>
                </a:solidFill>
              </a:rPr>
              <a:t> code.</a:t>
            </a:r>
          </a:p>
          <a:p>
            <a:pPr marL="457200" indent="-457200" algn="just"/>
            <a:r>
              <a:rPr lang="en-US" sz="2400" b="1" dirty="0">
                <a:solidFill>
                  <a:schemeClr val="tx1"/>
                </a:solidFill>
              </a:rPr>
              <a:t>The Roofline Visual Performance Model</a:t>
            </a:r>
          </a:p>
          <a:p>
            <a:pPr marL="457200" indent="-457200" algn="just">
              <a:buFont typeface="Arial" pitchFamily="34" charset="0"/>
              <a:buChar char="•"/>
            </a:pPr>
            <a:r>
              <a:rPr lang="en-US" sz="2400" dirty="0">
                <a:solidFill>
                  <a:schemeClr val="tx1"/>
                </a:solidFill>
              </a:rPr>
              <a:t>One visual, intuitive way to compare potential floating-point performance of variations of SIMD architectures is the Roofline model .</a:t>
            </a:r>
          </a:p>
          <a:p>
            <a:pPr marL="457200" indent="-457200" algn="just">
              <a:buFont typeface="Arial" pitchFamily="34" charset="0"/>
              <a:buChar char="•"/>
            </a:pPr>
            <a:r>
              <a:rPr lang="en-US" sz="2400" dirty="0">
                <a:solidFill>
                  <a:schemeClr val="tx1"/>
                </a:solidFill>
              </a:rPr>
              <a:t>It ties together floating-point performance, memory performance, and arithmetic intensity in a two-dimensional graph. </a:t>
            </a:r>
          </a:p>
          <a:p>
            <a:pPr marL="457200" indent="-457200" algn="just">
              <a:buFont typeface="Arial" pitchFamily="34" charset="0"/>
              <a:buChar char="•"/>
            </a:pPr>
            <a:r>
              <a:rPr lang="en-US" sz="2400" i="1" dirty="0">
                <a:solidFill>
                  <a:schemeClr val="tx1"/>
                </a:solidFill>
              </a:rPr>
              <a:t>Arithmetic intensity is the ratio of </a:t>
            </a:r>
            <a:r>
              <a:rPr lang="en-US" sz="2400" dirty="0">
                <a:solidFill>
                  <a:schemeClr val="tx1"/>
                </a:solidFill>
              </a:rPr>
              <a:t>floating-point operations per byte of memory accessed. </a:t>
            </a:r>
          </a:p>
          <a:p>
            <a:pPr marL="457200" indent="-457200" algn="just">
              <a:buFont typeface="Arial" pitchFamily="34" charset="0"/>
              <a:buChar char="•"/>
            </a:pPr>
            <a:r>
              <a:rPr lang="en-US" sz="2400" dirty="0">
                <a:solidFill>
                  <a:schemeClr val="tx1"/>
                </a:solidFill>
              </a:rPr>
              <a:t>It can be calculated by taking the total number of floating-point operations for a program divided by the total number of data bytes transferred to main memory during program execution.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990600"/>
            <a:ext cx="8915400" cy="5715000"/>
          </a:xfrm>
        </p:spPr>
        <p:txBody>
          <a:bodyPr>
            <a:noAutofit/>
          </a:bodyPr>
          <a:lstStyle/>
          <a:p>
            <a:pPr marL="457200" indent="-457200" algn="just"/>
            <a:r>
              <a:rPr lang="en-US" sz="2400" b="1" dirty="0">
                <a:solidFill>
                  <a:schemeClr val="tx1"/>
                </a:solidFill>
              </a:rPr>
              <a:t>The Roofline Visual Performance Model</a:t>
            </a:r>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p:txBody>
      </p:sp>
      <p:pic>
        <p:nvPicPr>
          <p:cNvPr id="20482" name="Picture 2"/>
          <p:cNvPicPr>
            <a:picLocks noChangeAspect="1" noChangeArrowheads="1"/>
          </p:cNvPicPr>
          <p:nvPr/>
        </p:nvPicPr>
        <p:blipFill>
          <a:blip r:embed="rId2"/>
          <a:srcRect/>
          <a:stretch>
            <a:fillRect/>
          </a:stretch>
        </p:blipFill>
        <p:spPr bwMode="auto">
          <a:xfrm>
            <a:off x="457200" y="1547812"/>
            <a:ext cx="7896225" cy="37623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SIMD Instruction Set Extensions for Multimedia</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IN" dirty="0">
                <a:solidFill>
                  <a:srgbClr val="FF66CC"/>
                </a:solidFill>
              </a:rPr>
              <a:t>Arithmetic intensity</a:t>
            </a:r>
            <a:r>
              <a:rPr lang="en-IN" dirty="0"/>
              <a:t>, specified as the number of floating-point operations to run the program divided by the number of bytes accessed in main memory.</a:t>
            </a:r>
          </a:p>
          <a:p>
            <a:pPr algn="just"/>
            <a:r>
              <a:rPr lang="en-IN" dirty="0"/>
              <a:t>The above figure shows the Roofline model for the NEC SX-9 vector processor on the left and the Intel Core i7 920 </a:t>
            </a:r>
            <a:r>
              <a:rPr lang="en-IN" dirty="0" err="1"/>
              <a:t>multicore</a:t>
            </a:r>
            <a:r>
              <a:rPr lang="en-IN" dirty="0"/>
              <a:t> computer on the right. </a:t>
            </a:r>
          </a:p>
          <a:p>
            <a:pPr algn="just"/>
            <a:r>
              <a:rPr lang="en-IN" dirty="0"/>
              <a:t>The vertical Y-axis is achievable floating-point performance from 2 to 256 GFLOP/sec. </a:t>
            </a:r>
          </a:p>
          <a:p>
            <a:pPr algn="just"/>
            <a:r>
              <a:rPr lang="en-IN" dirty="0"/>
              <a:t>The horizontal X-axis is arithmetic intensity, varying from 1/8th FLOP/DRAM byte accessed to 16 FLOP/ DRAM byte accessed in both graphs. </a:t>
            </a:r>
          </a:p>
          <a:p>
            <a:pPr algn="just"/>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533400"/>
            <a:ext cx="8915400" cy="6172200"/>
          </a:xfrm>
        </p:spPr>
        <p:txBody>
          <a:bodyPr>
            <a:noAutofit/>
          </a:bodyPr>
          <a:lstStyle/>
          <a:p>
            <a:pPr marL="457200" indent="-457200" algn="just">
              <a:buFont typeface="Arial" pitchFamily="34" charset="0"/>
              <a:buChar char="•"/>
            </a:pPr>
            <a:r>
              <a:rPr lang="en-US" sz="2400" b="1" dirty="0">
                <a:solidFill>
                  <a:schemeClr val="tx1"/>
                </a:solidFill>
              </a:rPr>
              <a:t>The Roofline Visual Performance Model</a:t>
            </a:r>
          </a:p>
          <a:p>
            <a:pPr marL="457200" indent="-457200" algn="just">
              <a:buFont typeface="Arial" pitchFamily="34" charset="0"/>
              <a:buChar char="•"/>
            </a:pPr>
            <a:r>
              <a:rPr lang="en-US" sz="2400" dirty="0">
                <a:solidFill>
                  <a:schemeClr val="tx1"/>
                </a:solidFill>
              </a:rPr>
              <a:t>For a given kernel, we can find a point on the X-axis based on its arithmetic intensity. </a:t>
            </a:r>
          </a:p>
          <a:p>
            <a:pPr marL="457200" indent="-457200" algn="just">
              <a:buFont typeface="Arial" pitchFamily="34" charset="0"/>
              <a:buChar char="•"/>
            </a:pPr>
            <a:r>
              <a:rPr lang="en-US" sz="2400" dirty="0">
                <a:solidFill>
                  <a:schemeClr val="tx1"/>
                </a:solidFill>
              </a:rPr>
              <a:t>If we drew a vertical line through that point, the performance of the kernel on that computer must lie somewhere along that line. We can plot a horizontal line showing peak floating-point performance of the computer. </a:t>
            </a:r>
          </a:p>
          <a:p>
            <a:pPr marL="457200" indent="-457200" algn="just">
              <a:buFont typeface="Arial" pitchFamily="34" charset="0"/>
              <a:buChar char="•"/>
            </a:pPr>
            <a:r>
              <a:rPr lang="en-US" sz="2400" dirty="0">
                <a:solidFill>
                  <a:schemeClr val="tx1"/>
                </a:solidFill>
              </a:rPr>
              <a:t>Obviously, the actual floating-point performance can be no higher than the horizontal line, since that is a hardware limit.</a:t>
            </a:r>
          </a:p>
          <a:p>
            <a:pPr marL="457200" indent="-457200" algn="just">
              <a:buFont typeface="Arial" pitchFamily="34" charset="0"/>
              <a:buChar char="•"/>
            </a:pPr>
            <a:r>
              <a:rPr lang="en-US" sz="2400" dirty="0">
                <a:solidFill>
                  <a:schemeClr val="tx1"/>
                </a:solidFill>
              </a:rPr>
              <a:t>How could we plot the peak memory performance? Since the X-axis is FLOP/byte and the Y-axis is FLOP/sec, bytes/sec is just a diagonal line at a 45-degree angle in this figure. Hence, we can plot a third line that gives the maximum floating-point performance that the memory system of that computer can support for a given arithmetic intensity. </a:t>
            </a:r>
            <a:endParaRPr lang="en-US" sz="2400" b="1"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533400"/>
            <a:ext cx="8915400" cy="6172200"/>
          </a:xfrm>
        </p:spPr>
        <p:txBody>
          <a:bodyPr>
            <a:noAutofit/>
          </a:bodyPr>
          <a:lstStyle/>
          <a:p>
            <a:pPr marL="457200" indent="-457200" algn="just"/>
            <a:r>
              <a:rPr lang="en-US" sz="2400" b="1" dirty="0">
                <a:solidFill>
                  <a:schemeClr val="tx1"/>
                </a:solidFill>
              </a:rPr>
              <a:t>The Roofline Visual Performance Model</a:t>
            </a:r>
          </a:p>
          <a:p>
            <a:pPr marL="457200" indent="-457200" algn="just">
              <a:buFont typeface="Arial" pitchFamily="34" charset="0"/>
              <a:buChar char="•"/>
            </a:pPr>
            <a:r>
              <a:rPr lang="en-US" sz="2400" dirty="0">
                <a:solidFill>
                  <a:schemeClr val="tx1"/>
                </a:solidFill>
              </a:rPr>
              <a:t>The horizontal and diagonal lines give this simple model its name and indicate its value. The “Roofline” sets an upper bound on performance of a kernel depending on its arithmetic intensity. </a:t>
            </a:r>
          </a:p>
          <a:p>
            <a:pPr marL="457200" indent="-457200" algn="just">
              <a:buFont typeface="Arial" pitchFamily="34" charset="0"/>
              <a:buChar char="•"/>
            </a:pPr>
            <a:r>
              <a:rPr lang="en-US" sz="2400" dirty="0">
                <a:solidFill>
                  <a:schemeClr val="tx1"/>
                </a:solidFill>
              </a:rPr>
              <a:t>If we think of arithmetic intensity as a pole that hits the roof, either it hits the flat part of the roof, which means performance is computationally limited, or it hits the slanted part of the roof, which means performance is ultimately limited by memory bandwidth. </a:t>
            </a:r>
          </a:p>
          <a:p>
            <a:pPr marL="457200" indent="-457200" algn="just">
              <a:buFont typeface="Arial" pitchFamily="34" charset="0"/>
              <a:buChar char="•"/>
            </a:pPr>
            <a:r>
              <a:rPr lang="en-US" sz="2400" dirty="0">
                <a:solidFill>
                  <a:schemeClr val="tx1"/>
                </a:solidFill>
              </a:rPr>
              <a:t>In the earlier Figure, the vertical dashed line on the right (arithmetic intensity of 4) is an example of the former and the vertical dashed line on the left (arithmetic intensity of 1/4) is an example of the latter. </a:t>
            </a:r>
          </a:p>
          <a:p>
            <a:pPr marL="457200" indent="-457200" algn="just">
              <a:buFont typeface="Arial" pitchFamily="34" charset="0"/>
              <a:buChar char="•"/>
            </a:pPr>
            <a:r>
              <a:rPr lang="en-US" sz="2400" dirty="0">
                <a:solidFill>
                  <a:schemeClr val="tx1"/>
                </a:solidFill>
              </a:rPr>
              <a:t>Given a Roofline model of a computer, you can apply it repeatedly, since it doesn’t vary by kernel.</a:t>
            </a:r>
          </a:p>
          <a:p>
            <a:pPr marL="457200" indent="-457200" algn="just"/>
            <a:endParaRPr lang="en-US" sz="2400" b="1" dirty="0">
              <a:solidFill>
                <a:schemeClr val="tx1"/>
              </a:solidFill>
            </a:endParaRPr>
          </a:p>
          <a:p>
            <a:pPr marL="457200" indent="-457200" algn="just">
              <a:buFont typeface="Arial" pitchFamily="34" charset="0"/>
              <a:buChar char="•"/>
            </a:pPr>
            <a:endParaRPr lang="en-US" sz="2400" b="1" dirty="0">
              <a:solidFill>
                <a:schemeClr val="tx1"/>
              </a:solidFill>
            </a:endParaRPr>
          </a:p>
          <a:p>
            <a:pPr marL="457200" indent="-457200" algn="just">
              <a:buFont typeface="Arial" pitchFamily="34" charset="0"/>
              <a:buChar char="•"/>
            </a:pPr>
            <a:endParaRPr lang="en-US" sz="2400" b="1" dirty="0">
              <a:solidFill>
                <a:schemeClr val="tx1"/>
              </a:solidFill>
            </a:endParaRPr>
          </a:p>
          <a:p>
            <a:pPr marL="457200" indent="-457200" algn="just">
              <a:buFont typeface="Arial" pitchFamily="34" charset="0"/>
              <a:buChar char="•"/>
            </a:pPr>
            <a:endParaRPr lang="en-US" sz="2400" b="1" dirty="0">
              <a:solidFill>
                <a:schemeClr val="tx1"/>
              </a:solidFill>
            </a:endParaRPr>
          </a:p>
        </p:txBody>
      </p:sp>
      <mc:AlternateContent xmlns:mc="http://schemas.openxmlformats.org/markup-compatibility/2006">
        <mc:Choice xmlns:p14="http://schemas.microsoft.com/office/powerpoint/2010/main" Requires="p14">
          <p:contentPart p14:bwMode="auto" r:id="rId2">
            <p14:nvContentPartPr>
              <p14:cNvPr id="21506" name="Ink 2"/>
              <p14:cNvContentPartPr>
                <a14:cpLocks xmlns:a14="http://schemas.microsoft.com/office/drawing/2010/main" noRot="1" noChangeAspect="1" noEditPoints="1" noChangeArrowheads="1" noChangeShapeType="1"/>
              </p14:cNvContentPartPr>
              <p14:nvPr/>
            </p14:nvContentPartPr>
            <p14:xfrm>
              <a:off x="508000" y="2082800"/>
              <a:ext cx="8661400" cy="1924050"/>
            </p14:xfrm>
          </p:contentPart>
        </mc:Choice>
        <mc:Fallback>
          <p:pic>
            <p:nvPicPr>
              <p:cNvPr id="21506" name="Ink 2"/>
              <p:cNvPicPr>
                <a:picLocks noRot="1" noChangeAspect="1" noEditPoints="1" noChangeArrowheads="1" noChangeShapeType="1"/>
              </p:cNvPicPr>
              <p:nvPr/>
            </p:nvPicPr>
            <p:blipFill>
              <a:blip r:embed="rId3"/>
              <a:stretch>
                <a:fillRect/>
              </a:stretch>
            </p:blipFill>
            <p:spPr>
              <a:xfrm>
                <a:off x="498641" y="2073458"/>
                <a:ext cx="8680119" cy="1942734"/>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1507" name="Ink 3"/>
              <p14:cNvContentPartPr>
                <a14:cpLocks xmlns:a14="http://schemas.microsoft.com/office/drawing/2010/main" noRot="1" noChangeAspect="1" noEditPoints="1" noChangeArrowheads="1" noChangeShapeType="1"/>
              </p14:cNvContentPartPr>
              <p14:nvPr/>
            </p14:nvContentPartPr>
            <p14:xfrm>
              <a:off x="1225550" y="1263650"/>
              <a:ext cx="6318250" cy="95250"/>
            </p14:xfrm>
          </p:contentPart>
        </mc:Choice>
        <mc:Fallback>
          <p:pic>
            <p:nvPicPr>
              <p:cNvPr id="21507" name="Ink 3"/>
              <p:cNvPicPr>
                <a:picLocks noRot="1" noChangeAspect="1" noEditPoints="1" noChangeArrowheads="1" noChangeShapeType="1"/>
              </p:cNvPicPr>
              <p:nvPr/>
            </p:nvPicPr>
            <p:blipFill>
              <a:blip r:embed="rId5"/>
              <a:stretch>
                <a:fillRect/>
              </a:stretch>
            </p:blipFill>
            <p:spPr>
              <a:xfrm>
                <a:off x="1216190" y="1252290"/>
                <a:ext cx="6336970" cy="11797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1508" name="Ink 4"/>
              <p14:cNvContentPartPr>
                <a14:cpLocks xmlns:a14="http://schemas.microsoft.com/office/drawing/2010/main" noRot="1" noChangeAspect="1" noEditPoints="1" noChangeArrowheads="1" noChangeShapeType="1"/>
              </p14:cNvContentPartPr>
              <p14:nvPr/>
            </p14:nvContentPartPr>
            <p14:xfrm>
              <a:off x="4286250" y="1695450"/>
              <a:ext cx="2432050" cy="69850"/>
            </p14:xfrm>
          </p:contentPart>
        </mc:Choice>
        <mc:Fallback>
          <p:pic>
            <p:nvPicPr>
              <p:cNvPr id="21508" name="Ink 4"/>
              <p:cNvPicPr>
                <a:picLocks noRot="1" noChangeAspect="1" noEditPoints="1" noChangeArrowheads="1" noChangeShapeType="1"/>
              </p:cNvPicPr>
              <p:nvPr/>
            </p:nvPicPr>
            <p:blipFill>
              <a:blip r:embed="rId7"/>
              <a:stretch>
                <a:fillRect/>
              </a:stretch>
            </p:blipFill>
            <p:spPr>
              <a:xfrm>
                <a:off x="4276892" y="1687519"/>
                <a:ext cx="2450766" cy="85711"/>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1509" name="Ink 5"/>
              <p14:cNvContentPartPr>
                <a14:cpLocks xmlns:a14="http://schemas.microsoft.com/office/drawing/2010/main" noRot="1" noChangeAspect="1" noEditPoints="1" noChangeArrowheads="1" noChangeShapeType="1"/>
              </p14:cNvContentPartPr>
              <p14:nvPr/>
            </p14:nvContentPartPr>
            <p14:xfrm>
              <a:off x="6934200" y="1720850"/>
              <a:ext cx="1968500" cy="57150"/>
            </p14:xfrm>
          </p:contentPart>
        </mc:Choice>
        <mc:Fallback>
          <p:pic>
            <p:nvPicPr>
              <p:cNvPr id="21509" name="Ink 5"/>
              <p:cNvPicPr>
                <a:picLocks noRot="1" noChangeAspect="1" noEditPoints="1" noChangeArrowheads="1" noChangeShapeType="1"/>
              </p:cNvPicPr>
              <p:nvPr/>
            </p:nvPicPr>
            <p:blipFill>
              <a:blip r:embed="rId9"/>
              <a:stretch>
                <a:fillRect/>
              </a:stretch>
            </p:blipFill>
            <p:spPr>
              <a:xfrm>
                <a:off x="6924842" y="1712261"/>
                <a:ext cx="1987217" cy="74328"/>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839200" cy="380999"/>
          </a:xfrm>
        </p:spPr>
        <p:txBody>
          <a:bodyPr>
            <a:normAutofit fontScale="90000"/>
          </a:bodyPr>
          <a:lstStyle/>
          <a:p>
            <a:r>
              <a:rPr lang="en-US" sz="3200" b="1" dirty="0"/>
              <a:t>SIMD Instruction Set Extensions for Multimedia</a:t>
            </a:r>
            <a:endParaRPr lang="en-US" sz="3200" dirty="0"/>
          </a:p>
        </p:txBody>
      </p:sp>
      <p:sp>
        <p:nvSpPr>
          <p:cNvPr id="3" name="Subtitle 2"/>
          <p:cNvSpPr>
            <a:spLocks noGrp="1"/>
          </p:cNvSpPr>
          <p:nvPr>
            <p:ph type="subTitle" idx="1"/>
          </p:nvPr>
        </p:nvSpPr>
        <p:spPr>
          <a:xfrm>
            <a:off x="76200" y="533400"/>
            <a:ext cx="8915400" cy="6172200"/>
          </a:xfrm>
        </p:spPr>
        <p:txBody>
          <a:bodyPr>
            <a:noAutofit/>
          </a:bodyPr>
          <a:lstStyle/>
          <a:p>
            <a:pPr marL="457200" indent="-457200" algn="just"/>
            <a:r>
              <a:rPr lang="en-US" sz="2400" b="1" dirty="0">
                <a:solidFill>
                  <a:schemeClr val="tx1"/>
                </a:solidFill>
              </a:rPr>
              <a:t>The Roofline Visual Performance Model</a:t>
            </a:r>
          </a:p>
          <a:p>
            <a:pPr marL="457200" indent="-457200" algn="just">
              <a:buFont typeface="Arial" pitchFamily="34" charset="0"/>
              <a:buChar char="•"/>
            </a:pPr>
            <a:r>
              <a:rPr lang="en-US" sz="2400" dirty="0">
                <a:solidFill>
                  <a:schemeClr val="tx1"/>
                </a:solidFill>
              </a:rPr>
              <a:t>Note that the “ridge point,” where the diagonal and horizontal roofs meet, offers an interesting insight into the computer. </a:t>
            </a:r>
          </a:p>
          <a:p>
            <a:pPr marL="457200" indent="-457200" algn="just">
              <a:buFont typeface="Arial" pitchFamily="34" charset="0"/>
              <a:buChar char="•"/>
            </a:pPr>
            <a:r>
              <a:rPr lang="en-US" sz="2400" dirty="0">
                <a:solidFill>
                  <a:schemeClr val="tx1"/>
                </a:solidFill>
              </a:rPr>
              <a:t>If it is far to the right, then only kernels with very high arithmetic intensity can achieve the maximum performance of that computer. If it is far to the left, then almost any kernel can potentially hit the maximum performance. </a:t>
            </a:r>
          </a:p>
          <a:p>
            <a:pPr marL="457200" indent="-457200" algn="just">
              <a:buFont typeface="Arial" pitchFamily="34" charset="0"/>
              <a:buChar char="•"/>
            </a:pPr>
            <a:r>
              <a:rPr lang="en-US" sz="2400" dirty="0">
                <a:solidFill>
                  <a:schemeClr val="tx1"/>
                </a:solidFill>
              </a:rPr>
              <a:t>Earlier Figure shows that the peak computational performance of the SX-9 is 2.4× faster than Core i7, but the memory performance is 10× faster. </a:t>
            </a:r>
          </a:p>
          <a:p>
            <a:pPr marL="457200" indent="-457200" algn="just">
              <a:buFont typeface="Arial" pitchFamily="34" charset="0"/>
              <a:buChar char="•"/>
            </a:pPr>
            <a:r>
              <a:rPr lang="en-US" sz="2400" dirty="0">
                <a:solidFill>
                  <a:schemeClr val="tx1"/>
                </a:solidFill>
              </a:rPr>
              <a:t>For programs with an arithmetic intensity of 0.25, the SX-9 is 10× faster (40.5 versus 4.1 GFLOP/sec). The higher memory bandwidth moves the ridge point from </a:t>
            </a:r>
            <a:r>
              <a:rPr lang="en-US" sz="2400">
                <a:solidFill>
                  <a:schemeClr val="tx1"/>
                </a:solidFill>
              </a:rPr>
              <a:t>2.6 in the </a:t>
            </a:r>
            <a:r>
              <a:rPr lang="en-US" sz="2400" dirty="0">
                <a:solidFill>
                  <a:schemeClr val="tx1"/>
                </a:solidFill>
              </a:rPr>
              <a:t>Core i7 to 0.6 on the SX-9, which means many more programs </a:t>
            </a:r>
            <a:r>
              <a:rPr lang="en-US" sz="2400">
                <a:solidFill>
                  <a:schemeClr val="tx1"/>
                </a:solidFill>
              </a:rPr>
              <a:t>can reach peak </a:t>
            </a:r>
            <a:r>
              <a:rPr lang="en-US" sz="2400" dirty="0">
                <a:solidFill>
                  <a:schemeClr val="tx1"/>
                </a:solidFill>
              </a:rPr>
              <a:t>computational performance on the vector processor.</a:t>
            </a:r>
            <a:endParaRPr lang="en-US" sz="2400" b="1" dirty="0">
              <a:solidFill>
                <a:schemeClr val="tx1"/>
              </a:solidFill>
            </a:endParaRPr>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a:p>
            <a:pPr marL="457200" indent="-457200" algn="just"/>
            <a:endParaRPr lang="en-US" sz="2400" b="1" dirty="0"/>
          </a:p>
        </p:txBody>
      </p:sp>
      <mc:AlternateContent xmlns:mc="http://schemas.openxmlformats.org/markup-compatibility/2006">
        <mc:Choice xmlns:p14="http://schemas.microsoft.com/office/powerpoint/2010/main" Requires="p14">
          <p:contentPart p14:bwMode="auto" r:id="rId2">
            <p14:nvContentPartPr>
              <p14:cNvPr id="22530" name="Ink 2"/>
              <p14:cNvContentPartPr>
                <a14:cpLocks xmlns:a14="http://schemas.microsoft.com/office/drawing/2010/main" noRot="1" noChangeAspect="1" noEditPoints="1" noChangeArrowheads="1" noChangeShapeType="1"/>
              </p14:cNvContentPartPr>
              <p14:nvPr/>
            </p14:nvContentPartPr>
            <p14:xfrm>
              <a:off x="2628900" y="1409700"/>
              <a:ext cx="2127250" cy="95250"/>
            </p14:xfrm>
          </p:contentPart>
        </mc:Choice>
        <mc:Fallback>
          <p:pic>
            <p:nvPicPr>
              <p:cNvPr id="22530" name="Ink 2"/>
              <p:cNvPicPr>
                <a:picLocks noRot="1" noChangeAspect="1" noEditPoints="1" noChangeArrowheads="1" noChangeShapeType="1"/>
              </p:cNvPicPr>
              <p:nvPr/>
            </p:nvPicPr>
            <p:blipFill>
              <a:blip r:embed="rId3"/>
              <a:stretch>
                <a:fillRect/>
              </a:stretch>
            </p:blipFill>
            <p:spPr>
              <a:xfrm>
                <a:off x="2619542" y="1401527"/>
                <a:ext cx="2145967" cy="111597"/>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2531" name="Ink 3"/>
              <p14:cNvContentPartPr>
                <a14:cpLocks xmlns:a14="http://schemas.microsoft.com/office/drawing/2010/main" noRot="1" noChangeAspect="1" noEditPoints="1" noChangeArrowheads="1" noChangeShapeType="1"/>
              </p14:cNvContentPartPr>
              <p14:nvPr/>
            </p14:nvContentPartPr>
            <p14:xfrm>
              <a:off x="1295400" y="2152650"/>
              <a:ext cx="2317750" cy="63500"/>
            </p14:xfrm>
          </p:contentPart>
        </mc:Choice>
        <mc:Fallback>
          <p:pic>
            <p:nvPicPr>
              <p:cNvPr id="22531" name="Ink 3"/>
              <p:cNvPicPr>
                <a:picLocks noRot="1" noChangeAspect="1" noEditPoints="1" noChangeArrowheads="1" noChangeShapeType="1"/>
              </p:cNvPicPr>
              <p:nvPr/>
            </p:nvPicPr>
            <p:blipFill>
              <a:blip r:embed="rId5"/>
              <a:stretch>
                <a:fillRect/>
              </a:stretch>
            </p:blipFill>
            <p:spPr>
              <a:xfrm>
                <a:off x="1286043" y="2144395"/>
                <a:ext cx="2336465" cy="8001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2532" name="Ink 4"/>
              <p14:cNvContentPartPr>
                <a14:cpLocks xmlns:a14="http://schemas.microsoft.com/office/drawing/2010/main" noRot="1" noChangeAspect="1" noEditPoints="1" noChangeArrowheads="1" noChangeShapeType="1"/>
              </p14:cNvContentPartPr>
              <p14:nvPr/>
            </p14:nvContentPartPr>
            <p14:xfrm>
              <a:off x="6483350" y="2165350"/>
              <a:ext cx="2470150" cy="50800"/>
            </p14:xfrm>
          </p:contentPart>
        </mc:Choice>
        <mc:Fallback>
          <p:pic>
            <p:nvPicPr>
              <p:cNvPr id="22532" name="Ink 4"/>
              <p:cNvPicPr>
                <a:picLocks noRot="1" noChangeAspect="1" noEditPoints="1" noChangeArrowheads="1" noChangeShapeType="1"/>
              </p:cNvPicPr>
              <p:nvPr/>
            </p:nvPicPr>
            <p:blipFill>
              <a:blip r:embed="rId7"/>
              <a:stretch>
                <a:fillRect/>
              </a:stretch>
            </p:blipFill>
            <p:spPr>
              <a:xfrm>
                <a:off x="6473992" y="2157671"/>
                <a:ext cx="2488866" cy="66158"/>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2533" name="Ink 5"/>
              <p14:cNvContentPartPr>
                <a14:cpLocks xmlns:a14="http://schemas.microsoft.com/office/drawing/2010/main" noRot="1" noChangeAspect="1" noEditPoints="1" noChangeArrowheads="1" noChangeShapeType="1"/>
              </p14:cNvContentPartPr>
              <p14:nvPr/>
            </p14:nvContentPartPr>
            <p14:xfrm>
              <a:off x="622300" y="2489200"/>
              <a:ext cx="6089650" cy="107950"/>
            </p14:xfrm>
          </p:contentPart>
        </mc:Choice>
        <mc:Fallback>
          <p:pic>
            <p:nvPicPr>
              <p:cNvPr id="22533" name="Ink 5"/>
              <p:cNvPicPr>
                <a:picLocks noRot="1" noChangeAspect="1" noEditPoints="1" noChangeArrowheads="1" noChangeShapeType="1"/>
              </p:cNvPicPr>
              <p:nvPr/>
            </p:nvPicPr>
            <p:blipFill>
              <a:blip r:embed="rId9"/>
              <a:stretch>
                <a:fillRect/>
              </a:stretch>
            </p:blipFill>
            <p:spPr>
              <a:xfrm>
                <a:off x="612940" y="2480945"/>
                <a:ext cx="6108370" cy="1244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2534" name="Ink 6"/>
              <p14:cNvContentPartPr>
                <a14:cpLocks xmlns:a14="http://schemas.microsoft.com/office/drawing/2010/main" noRot="1" noChangeAspect="1" noEditPoints="1" noChangeArrowheads="1" noChangeShapeType="1"/>
              </p14:cNvContentPartPr>
              <p14:nvPr/>
            </p14:nvContentPartPr>
            <p14:xfrm>
              <a:off x="1384300" y="2851150"/>
              <a:ext cx="1758950" cy="69850"/>
            </p14:xfrm>
          </p:contentPart>
        </mc:Choice>
        <mc:Fallback>
          <p:pic>
            <p:nvPicPr>
              <p:cNvPr id="22534" name="Ink 6"/>
              <p:cNvPicPr>
                <a:picLocks noRot="1" noChangeAspect="1" noEditPoints="1" noChangeArrowheads="1" noChangeShapeType="1"/>
              </p:cNvPicPr>
              <p:nvPr/>
            </p:nvPicPr>
            <p:blipFill>
              <a:blip r:embed="rId11"/>
              <a:stretch>
                <a:fillRect/>
              </a:stretch>
            </p:blipFill>
            <p:spPr>
              <a:xfrm>
                <a:off x="1374942" y="2843288"/>
                <a:ext cx="1777666" cy="85574"/>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2535" name="Ink 7"/>
              <p14:cNvContentPartPr>
                <a14:cpLocks xmlns:a14="http://schemas.microsoft.com/office/drawing/2010/main" noRot="1" noChangeAspect="1" noEditPoints="1" noChangeArrowheads="1" noChangeShapeType="1"/>
              </p14:cNvContentPartPr>
              <p14:nvPr/>
            </p14:nvContentPartPr>
            <p14:xfrm>
              <a:off x="3892550" y="2914650"/>
              <a:ext cx="4692650" cy="101600"/>
            </p14:xfrm>
          </p:contentPart>
        </mc:Choice>
        <mc:Fallback>
          <p:pic>
            <p:nvPicPr>
              <p:cNvPr id="22535" name="Ink 7"/>
              <p:cNvPicPr>
                <a:picLocks noRot="1" noChangeAspect="1" noEditPoints="1" noChangeArrowheads="1" noChangeShapeType="1"/>
              </p:cNvPicPr>
              <p:nvPr/>
            </p:nvPicPr>
            <p:blipFill>
              <a:blip r:embed="rId13"/>
              <a:stretch>
                <a:fillRect/>
              </a:stretch>
            </p:blipFill>
            <p:spPr>
              <a:xfrm>
                <a:off x="3883191" y="2905845"/>
                <a:ext cx="4711369" cy="119211"/>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2536" name="Ink 8"/>
              <p14:cNvContentPartPr>
                <a14:cpLocks xmlns:a14="http://schemas.microsoft.com/office/drawing/2010/main" noRot="1" noChangeAspect="1" noEditPoints="1" noChangeArrowheads="1" noChangeShapeType="1"/>
              </p14:cNvContentPartPr>
              <p14:nvPr/>
            </p14:nvContentPartPr>
            <p14:xfrm>
              <a:off x="869950" y="3225800"/>
              <a:ext cx="2603500" cy="6350"/>
            </p14:xfrm>
          </p:contentPart>
        </mc:Choice>
        <mc:Fallback>
          <p:pic>
            <p:nvPicPr>
              <p:cNvPr id="22536" name="Ink 8"/>
              <p:cNvPicPr>
                <a:picLocks noRot="1" noChangeAspect="1" noEditPoints="1" noChangeArrowheads="1" noChangeShapeType="1"/>
              </p:cNvPicPr>
              <p:nvPr/>
            </p:nvPicPr>
            <p:blipFill>
              <a:blip r:embed="rId15"/>
              <a:stretch>
                <a:fillRect/>
              </a:stretch>
            </p:blipFill>
            <p:spPr>
              <a:xfrm>
                <a:off x="860590" y="3220641"/>
                <a:ext cx="2622220" cy="16669"/>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537" name="Ink 9"/>
              <p14:cNvContentPartPr>
                <a14:cpLocks xmlns:a14="http://schemas.microsoft.com/office/drawing/2010/main" noRot="1" noChangeAspect="1" noEditPoints="1" noChangeArrowheads="1" noChangeShapeType="1"/>
              </p14:cNvContentPartPr>
              <p14:nvPr/>
            </p14:nvContentPartPr>
            <p14:xfrm>
              <a:off x="2038350" y="4083050"/>
              <a:ext cx="1651000" cy="44450"/>
            </p14:xfrm>
          </p:contentPart>
        </mc:Choice>
        <mc:Fallback>
          <p:pic>
            <p:nvPicPr>
              <p:cNvPr id="22537" name="Ink 9"/>
              <p:cNvPicPr>
                <a:picLocks noRot="1" noChangeAspect="1" noEditPoints="1" noChangeArrowheads="1" noChangeShapeType="1"/>
              </p:cNvPicPr>
              <p:nvPr/>
            </p:nvPicPr>
            <p:blipFill>
              <a:blip r:embed="rId17"/>
              <a:stretch>
                <a:fillRect/>
              </a:stretch>
            </p:blipFill>
            <p:spPr>
              <a:xfrm>
                <a:off x="2028992" y="4073730"/>
                <a:ext cx="1669716" cy="6309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538" name="Ink 10"/>
              <p14:cNvContentPartPr>
                <a14:cpLocks xmlns:a14="http://schemas.microsoft.com/office/drawing/2010/main" noRot="1" noChangeAspect="1" noEditPoints="1" noChangeArrowheads="1" noChangeShapeType="1"/>
              </p14:cNvContentPartPr>
              <p14:nvPr/>
            </p14:nvContentPartPr>
            <p14:xfrm>
              <a:off x="584200" y="4470400"/>
              <a:ext cx="2057400" cy="12700"/>
            </p14:xfrm>
          </p:contentPart>
        </mc:Choice>
        <mc:Fallback>
          <p:pic>
            <p:nvPicPr>
              <p:cNvPr id="22538" name="Ink 10"/>
              <p:cNvPicPr>
                <a:picLocks noRot="1" noChangeAspect="1" noEditPoints="1" noChangeArrowheads="1" noChangeShapeType="1"/>
              </p:cNvPicPr>
              <p:nvPr/>
            </p:nvPicPr>
            <p:blipFill>
              <a:blip r:embed="rId19"/>
              <a:stretch>
                <a:fillRect/>
              </a:stretch>
            </p:blipFill>
            <p:spPr>
              <a:xfrm>
                <a:off x="574842" y="4466515"/>
                <a:ext cx="2076117" cy="20469"/>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686</TotalTime>
  <Words>1556</Words>
  <Application>Microsoft Office PowerPoint</Application>
  <PresentationFormat>On-screen Show (4:3)</PresentationFormat>
  <Paragraphs>94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lpstr>PowerPoint Presentation</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lpstr>SIMD Instruction Set Extensions for Multimedia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SIMD Instruction Set Extensions for Multimedia</dc:title>
  <dc:creator>ananthi</dc:creator>
  <cp:lastModifiedBy>Priyadharsini S</cp:lastModifiedBy>
  <cp:revision>64</cp:revision>
  <dcterms:created xsi:type="dcterms:W3CDTF">2016-08-12T10:09:42Z</dcterms:created>
  <dcterms:modified xsi:type="dcterms:W3CDTF">2022-02-18T08:44:23Z</dcterms:modified>
</cp:coreProperties>
</file>