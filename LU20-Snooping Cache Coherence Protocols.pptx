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C8DACA-5ABD-4B8D-91E0-F051A6C22D7A}"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C8DACA-5ABD-4B8D-91E0-F051A6C22D7A}"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C8DACA-5ABD-4B8D-91E0-F051A6C22D7A}"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8DACA-5ABD-4B8D-91E0-F051A6C22D7A}" type="datetimeFigureOut">
              <a:rPr lang="en-US" smtClean="0"/>
              <a:pPr/>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C8DACA-5ABD-4B8D-91E0-F051A6C22D7A}" type="datetimeFigureOut">
              <a:rPr lang="en-US" smtClean="0"/>
              <a:pPr/>
              <a:t>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C8DACA-5ABD-4B8D-91E0-F051A6C22D7A}" type="datetimeFigureOut">
              <a:rPr lang="en-US" smtClean="0"/>
              <a:pPr/>
              <a:t>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C8DACA-5ABD-4B8D-91E0-F051A6C22D7A}" type="datetimeFigureOut">
              <a:rPr lang="en-US" smtClean="0"/>
              <a:pPr/>
              <a:t>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C8DACA-5ABD-4B8D-91E0-F051A6C22D7A}" type="datetimeFigureOut">
              <a:rPr lang="en-US" smtClean="0"/>
              <a:pPr/>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C8DACA-5ABD-4B8D-91E0-F051A6C22D7A}" type="datetimeFigureOut">
              <a:rPr lang="en-US" smtClean="0"/>
              <a:pPr/>
              <a:t>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C8DACA-5ABD-4B8D-91E0-F051A6C22D7A}"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C8DACA-5ABD-4B8D-91E0-F051A6C22D7A}" type="datetimeFigureOut">
              <a:rPr lang="en-US" smtClean="0"/>
              <a:pPr/>
              <a:t>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B4EA12-AA4C-4AF7-B1EE-D4C34C6C937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C8DACA-5ABD-4B8D-91E0-F051A6C22D7A}" type="datetimeFigureOut">
              <a:rPr lang="en-US" smtClean="0"/>
              <a:pPr/>
              <a:t>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4EA12-AA4C-4AF7-B1EE-D4C34C6C937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362200"/>
            <a:ext cx="8305800" cy="460375"/>
          </a:xfrm>
        </p:spPr>
        <p:txBody>
          <a:bodyPr>
            <a:noAutofit/>
          </a:bodyPr>
          <a:lstStyle/>
          <a:p>
            <a:r>
              <a:rPr lang="en-US" sz="4000" b="1" dirty="0"/>
              <a:t>Snooping Cache Coherence Protocols</a:t>
            </a:r>
            <a:endParaRPr lang="en-US" sz="4000" dirty="0"/>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609600"/>
            <a:ext cx="8839200" cy="6096000"/>
          </a:xfrm>
        </p:spPr>
        <p:txBody>
          <a:bodyPr>
            <a:noAutofit/>
          </a:bodyPr>
          <a:lstStyle/>
          <a:p>
            <a:pPr marL="457200" indent="-457200" algn="just">
              <a:buFont typeface="Arial" pitchFamily="34" charset="0"/>
              <a:buChar char="•"/>
            </a:pPr>
            <a:r>
              <a:rPr lang="en-US" sz="2200" dirty="0">
                <a:solidFill>
                  <a:schemeClr val="tx1"/>
                </a:solidFill>
              </a:rPr>
              <a:t>There are two ways to maintain the coherence requirement.</a:t>
            </a:r>
          </a:p>
          <a:p>
            <a:pPr marL="457200" indent="-457200" algn="just">
              <a:buFont typeface="Arial" pitchFamily="34" charset="0"/>
              <a:buChar char="•"/>
            </a:pPr>
            <a:r>
              <a:rPr lang="en-US" sz="2200" dirty="0">
                <a:solidFill>
                  <a:schemeClr val="tx1"/>
                </a:solidFill>
              </a:rPr>
              <a:t>One method is to ensure that a processor has </a:t>
            </a:r>
            <a:r>
              <a:rPr lang="en-US" sz="2200" dirty="0">
                <a:solidFill>
                  <a:srgbClr val="C00000"/>
                </a:solidFill>
              </a:rPr>
              <a:t>exclusive access to a data item </a:t>
            </a:r>
            <a:r>
              <a:rPr lang="en-US" sz="2200" dirty="0">
                <a:solidFill>
                  <a:schemeClr val="tx1"/>
                </a:solidFill>
              </a:rPr>
              <a:t>before it writes that item. This style of protocol is called a </a:t>
            </a:r>
            <a:r>
              <a:rPr lang="en-US" sz="2200" dirty="0">
                <a:solidFill>
                  <a:srgbClr val="C00000"/>
                </a:solidFill>
              </a:rPr>
              <a:t>write invalidate protocol</a:t>
            </a:r>
            <a:r>
              <a:rPr lang="en-US" sz="2200" dirty="0">
                <a:solidFill>
                  <a:schemeClr val="tx1"/>
                </a:solidFill>
              </a:rPr>
              <a:t> because it invalidates other copies on a write. </a:t>
            </a:r>
          </a:p>
          <a:p>
            <a:pPr marL="457200" indent="-457200" algn="just">
              <a:buFont typeface="Arial" pitchFamily="34" charset="0"/>
              <a:buChar char="•"/>
            </a:pPr>
            <a:r>
              <a:rPr lang="en-US" sz="2200" dirty="0">
                <a:solidFill>
                  <a:schemeClr val="tx1"/>
                </a:solidFill>
              </a:rPr>
              <a:t>It is by far the most common protocol. Exclusive access ensures that no other readable or writable copies of an item exist when the write occurs: All other cached copies of the item are invalidated.</a:t>
            </a:r>
          </a:p>
          <a:p>
            <a:pPr marL="457200" indent="-457200" algn="just">
              <a:buFont typeface="Arial" pitchFamily="34" charset="0"/>
              <a:buChar char="•"/>
            </a:pPr>
            <a:r>
              <a:rPr lang="en-US" sz="2200" dirty="0">
                <a:solidFill>
                  <a:schemeClr val="tx1"/>
                </a:solidFill>
              </a:rPr>
              <a:t>The following figure shows an example of an invalidation protocol with write-back caches in action. </a:t>
            </a:r>
          </a:p>
          <a:p>
            <a:pPr marL="457200" indent="-457200" algn="just">
              <a:buFont typeface="Arial" pitchFamily="34" charset="0"/>
              <a:buChar char="•"/>
            </a:pPr>
            <a:endParaRPr lang="en-US" sz="2200" dirty="0">
              <a:solidFill>
                <a:schemeClr val="tx1"/>
              </a:solidFill>
            </a:endParaRPr>
          </a:p>
          <a:p>
            <a:pPr marL="457200" indent="-457200" algn="just">
              <a:buFont typeface="Arial" pitchFamily="34" charset="0"/>
              <a:buChar char="•"/>
            </a:pPr>
            <a:endParaRPr lang="en-US" sz="2200" dirty="0">
              <a:solidFill>
                <a:schemeClr val="tx1"/>
              </a:solidFill>
            </a:endParaRPr>
          </a:p>
          <a:p>
            <a:pPr marL="457200" indent="-457200" algn="just">
              <a:buFont typeface="Arial" pitchFamily="34" charset="0"/>
              <a:buChar char="•"/>
            </a:pPr>
            <a:endParaRPr lang="en-US" sz="2200" dirty="0">
              <a:solidFill>
                <a:schemeClr val="tx1"/>
              </a:solidFill>
            </a:endParaRPr>
          </a:p>
          <a:p>
            <a:pPr marL="457200" indent="-457200" algn="just">
              <a:buFont typeface="Arial" pitchFamily="34" charset="0"/>
              <a:buChar char="•"/>
            </a:pPr>
            <a:endParaRPr lang="en-US" sz="2200" dirty="0">
              <a:solidFill>
                <a:schemeClr val="tx1"/>
              </a:solidFill>
            </a:endParaRPr>
          </a:p>
          <a:p>
            <a:pPr marL="457200" indent="-457200" algn="just">
              <a:buFont typeface="Arial" pitchFamily="34" charset="0"/>
              <a:buChar char="•"/>
            </a:pPr>
            <a:endParaRPr lang="en-US" sz="2200" dirty="0">
              <a:solidFill>
                <a:schemeClr val="tx1"/>
              </a:solidFill>
            </a:endParaRPr>
          </a:p>
          <a:p>
            <a:pPr marL="457200" indent="-457200" algn="just">
              <a:buFont typeface="Arial" pitchFamily="34" charset="0"/>
              <a:buChar char="•"/>
            </a:pPr>
            <a:endParaRPr lang="en-US" sz="2200" dirty="0">
              <a:solidFill>
                <a:schemeClr val="tx1"/>
              </a:solidFill>
            </a:endParaRPr>
          </a:p>
          <a:p>
            <a:pPr marL="457200" indent="-457200" algn="just">
              <a:buFont typeface="Arial" pitchFamily="34" charset="0"/>
              <a:buChar char="•"/>
            </a:pPr>
            <a:endParaRPr lang="en-US" sz="2200" dirty="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3295" y="3962400"/>
            <a:ext cx="9147295" cy="24384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609600"/>
            <a:ext cx="8839200" cy="6096000"/>
          </a:xfrm>
        </p:spPr>
        <p:txBody>
          <a:bodyPr>
            <a:noAutofit/>
          </a:bodyPr>
          <a:lstStyle/>
          <a:p>
            <a:pPr marL="465138" indent="-465138" algn="just">
              <a:buFont typeface="Arial" pitchFamily="34" charset="0"/>
              <a:buChar char="•"/>
            </a:pPr>
            <a:r>
              <a:rPr lang="en-US" sz="2200" dirty="0">
                <a:solidFill>
                  <a:schemeClr val="tx1"/>
                </a:solidFill>
              </a:rPr>
              <a:t>To see how this protocol ensures coherence, consider a write followed by a read by another processor: Since the write requires exclusive access, any copy held by the reading processor must be invalidated (hence, the protocol name). </a:t>
            </a:r>
          </a:p>
          <a:p>
            <a:pPr marL="465138" indent="-465138" algn="just">
              <a:buFont typeface="Arial" pitchFamily="34" charset="0"/>
              <a:buChar char="•"/>
            </a:pPr>
            <a:r>
              <a:rPr lang="en-US" sz="2200" dirty="0">
                <a:solidFill>
                  <a:schemeClr val="tx1"/>
                </a:solidFill>
              </a:rPr>
              <a:t>Thus, when the read occurs, it misses in the cache and is forced to fetch a new copy of the data. </a:t>
            </a:r>
          </a:p>
          <a:p>
            <a:pPr marL="465138" indent="-465138" algn="just">
              <a:buFont typeface="Arial" pitchFamily="34" charset="0"/>
              <a:buChar char="•"/>
            </a:pPr>
            <a:r>
              <a:rPr lang="en-US" sz="2200" dirty="0">
                <a:solidFill>
                  <a:schemeClr val="tx1"/>
                </a:solidFill>
              </a:rPr>
              <a:t>For a write, we require that the writing processor have exclusive access, preventing any other processor from being able to write simultaneously. </a:t>
            </a:r>
          </a:p>
          <a:p>
            <a:pPr marL="465138" indent="-465138" algn="just">
              <a:buFont typeface="Arial" pitchFamily="34" charset="0"/>
              <a:buChar char="•"/>
            </a:pPr>
            <a:r>
              <a:rPr lang="en-US" sz="2200" dirty="0">
                <a:solidFill>
                  <a:schemeClr val="tx1"/>
                </a:solidFill>
              </a:rPr>
              <a:t>If two processors do attempt to write the same data simultaneously, one of them wins the race, causing the other processor’s copy to be invalidated. </a:t>
            </a:r>
          </a:p>
          <a:p>
            <a:pPr marL="465138" indent="-465138" algn="just">
              <a:buFont typeface="Arial" pitchFamily="34" charset="0"/>
              <a:buChar char="•"/>
            </a:pPr>
            <a:r>
              <a:rPr lang="en-US" sz="2200" dirty="0">
                <a:solidFill>
                  <a:schemeClr val="tx1"/>
                </a:solidFill>
              </a:rPr>
              <a:t>For the other processor to complete its write, it must obtain a new copy of the data, which must now contain the updated value. Therefore, this protocol enforces write serialization.</a:t>
            </a:r>
          </a:p>
          <a:p>
            <a:pPr marL="465138" indent="-465138" algn="just">
              <a:buFont typeface="Arial" pitchFamily="34" charset="0"/>
              <a:buChar char="•"/>
            </a:pPr>
            <a:r>
              <a:rPr lang="en-US" sz="2200" dirty="0">
                <a:solidFill>
                  <a:schemeClr val="tx1"/>
                </a:solidFill>
              </a:rPr>
              <a:t>The alternative to an invalidate protocol is to update all the cached copies of a data item when that item is written. This type of protocol is called a </a:t>
            </a:r>
            <a:r>
              <a:rPr lang="en-US" sz="2200" dirty="0">
                <a:solidFill>
                  <a:srgbClr val="C00000"/>
                </a:solidFill>
              </a:rPr>
              <a:t>write update or write broadcast protocol.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609600"/>
            <a:ext cx="8839200" cy="6096000"/>
          </a:xfrm>
        </p:spPr>
        <p:txBody>
          <a:bodyPr>
            <a:noAutofit/>
          </a:bodyPr>
          <a:lstStyle/>
          <a:p>
            <a:pPr marL="465138" indent="-465138" algn="just">
              <a:buFont typeface="Arial" pitchFamily="34" charset="0"/>
              <a:buChar char="•"/>
            </a:pPr>
            <a:r>
              <a:rPr lang="en-US" sz="2200" dirty="0">
                <a:solidFill>
                  <a:schemeClr val="tx1"/>
                </a:solidFill>
              </a:rPr>
              <a:t>Because a write update protocol must broadcast all writes to shared cache lines, it </a:t>
            </a:r>
            <a:r>
              <a:rPr lang="en-US" sz="2200" dirty="0">
                <a:solidFill>
                  <a:srgbClr val="C00000"/>
                </a:solidFill>
              </a:rPr>
              <a:t>consumes considerably more bandwidth</a:t>
            </a:r>
            <a:r>
              <a:rPr lang="en-US" sz="2200" dirty="0">
                <a:solidFill>
                  <a:schemeClr val="tx1"/>
                </a:solidFill>
              </a:rPr>
              <a:t>. For this reason, recent multiprocessors have opted to implement a write invalidate protocol.</a:t>
            </a:r>
          </a:p>
          <a:p>
            <a:pPr marL="465138" indent="-465138" algn="just"/>
            <a:r>
              <a:rPr lang="en-US" sz="2400" b="1" dirty="0">
                <a:solidFill>
                  <a:schemeClr val="tx1"/>
                </a:solidFill>
              </a:rPr>
              <a:t>Basic Implementation Techniques</a:t>
            </a:r>
          </a:p>
          <a:p>
            <a:pPr marL="465138" indent="-465138" algn="just">
              <a:buFont typeface="Arial" pitchFamily="34" charset="0"/>
              <a:buChar char="•"/>
            </a:pPr>
            <a:r>
              <a:rPr lang="en-US" sz="2400" dirty="0">
                <a:solidFill>
                  <a:schemeClr val="tx1"/>
                </a:solidFill>
              </a:rPr>
              <a:t>To perform an invalidate, the processor simply acquires bus access and broadcasts the address to be invalidated on the bus. </a:t>
            </a:r>
          </a:p>
          <a:p>
            <a:pPr marL="465138" indent="-465138" algn="just">
              <a:buFont typeface="Arial" pitchFamily="34" charset="0"/>
              <a:buChar char="•"/>
            </a:pPr>
            <a:r>
              <a:rPr lang="en-US" sz="2400" dirty="0">
                <a:solidFill>
                  <a:schemeClr val="tx1"/>
                </a:solidFill>
              </a:rPr>
              <a:t>All processors continuously snoop on the bus, watching the addresses. </a:t>
            </a:r>
          </a:p>
          <a:p>
            <a:pPr marL="465138" indent="-465138" algn="just">
              <a:buFont typeface="Arial" pitchFamily="34" charset="0"/>
              <a:buChar char="•"/>
            </a:pPr>
            <a:r>
              <a:rPr lang="en-US" sz="2400" dirty="0">
                <a:solidFill>
                  <a:schemeClr val="tx1"/>
                </a:solidFill>
              </a:rPr>
              <a:t>The processors check whether the address on the bus is in their cache. If so, the corresponding data in the cache are invalidated.</a:t>
            </a:r>
          </a:p>
          <a:p>
            <a:pPr marL="465138" indent="-465138" algn="just">
              <a:buFont typeface="Arial" pitchFamily="34" charset="0"/>
              <a:buChar char="•"/>
            </a:pPr>
            <a:r>
              <a:rPr lang="en-US" sz="2400" dirty="0">
                <a:solidFill>
                  <a:schemeClr val="tx1"/>
                </a:solidFill>
              </a:rPr>
              <a:t>When a write to a block that is shared occurs, the writing processor must acquire bus access to broadcast its invalidation. </a:t>
            </a:r>
          </a:p>
          <a:p>
            <a:pPr marL="465138" indent="-465138" algn="just">
              <a:buFont typeface="Arial" pitchFamily="34" charset="0"/>
              <a:buChar char="•"/>
            </a:pPr>
            <a:r>
              <a:rPr lang="en-US" sz="2400" dirty="0">
                <a:solidFill>
                  <a:schemeClr val="tx1"/>
                </a:solidFill>
              </a:rPr>
              <a:t>If two processors attempt to write shared blocks at the same time, their attempts to broadcast an invalidate operation will be serialized when they arbitrate for the bus.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304800" y="457200"/>
            <a:ext cx="8839200" cy="6096000"/>
          </a:xfrm>
        </p:spPr>
        <p:txBody>
          <a:bodyPr>
            <a:noAutofit/>
          </a:bodyPr>
          <a:lstStyle/>
          <a:p>
            <a:pPr marL="465138" indent="-465138" algn="just"/>
            <a:r>
              <a:rPr lang="en-US" sz="2400" b="1" dirty="0">
                <a:solidFill>
                  <a:schemeClr val="tx1"/>
                </a:solidFill>
              </a:rPr>
              <a:t>Basic Implementation Techniques</a:t>
            </a:r>
          </a:p>
          <a:p>
            <a:pPr marL="465138" indent="-465138" algn="just">
              <a:buFont typeface="Arial" pitchFamily="34" charset="0"/>
              <a:buChar char="•"/>
            </a:pPr>
            <a:r>
              <a:rPr lang="en-US" sz="2400" dirty="0">
                <a:solidFill>
                  <a:schemeClr val="tx1"/>
                </a:solidFill>
              </a:rPr>
              <a:t>The first processor to obtain bus access will cause any other copies of the block it is writing to be invalidated.</a:t>
            </a:r>
          </a:p>
          <a:p>
            <a:pPr marL="465138" indent="-465138" algn="just">
              <a:buFont typeface="Arial" pitchFamily="34" charset="0"/>
              <a:buChar char="•"/>
            </a:pPr>
            <a:r>
              <a:rPr lang="en-US" sz="2400" dirty="0">
                <a:solidFill>
                  <a:schemeClr val="tx1"/>
                </a:solidFill>
              </a:rPr>
              <a:t>If the processors were attempting to write the same block, the serialization enforced by the bus also serializes their writes. </a:t>
            </a:r>
          </a:p>
          <a:p>
            <a:pPr marL="465138" indent="-465138" algn="just">
              <a:buFont typeface="Arial" pitchFamily="34" charset="0"/>
              <a:buChar char="•"/>
            </a:pPr>
            <a:r>
              <a:rPr lang="en-US" sz="2400" dirty="0">
                <a:solidFill>
                  <a:schemeClr val="tx1"/>
                </a:solidFill>
              </a:rPr>
              <a:t>All coherence schemes require some method of serializing accesses to the same cache block, either by serializing access to the communication medium or another shared structure.</a:t>
            </a:r>
          </a:p>
          <a:p>
            <a:pPr marL="465138" indent="-465138" algn="just">
              <a:buFont typeface="Arial" pitchFamily="34" charset="0"/>
              <a:buChar char="•"/>
            </a:pPr>
            <a:r>
              <a:rPr lang="en-US" sz="2400" dirty="0">
                <a:solidFill>
                  <a:schemeClr val="tx1"/>
                </a:solidFill>
              </a:rPr>
              <a:t>In addition to invalidating outstanding copies of a cache block that is being written into, we also need to locate a data item when a cache miss occurs. </a:t>
            </a:r>
          </a:p>
          <a:p>
            <a:pPr marL="465138" indent="-465138" algn="just">
              <a:buFont typeface="Arial" pitchFamily="34" charset="0"/>
              <a:buChar char="•"/>
            </a:pPr>
            <a:r>
              <a:rPr lang="en-US" sz="2400" dirty="0">
                <a:solidFill>
                  <a:schemeClr val="tx1"/>
                </a:solidFill>
              </a:rPr>
              <a:t>In a </a:t>
            </a:r>
            <a:r>
              <a:rPr lang="en-US" sz="2400" dirty="0">
                <a:solidFill>
                  <a:srgbClr val="C00000"/>
                </a:solidFill>
              </a:rPr>
              <a:t>write-through</a:t>
            </a:r>
            <a:r>
              <a:rPr lang="en-US" sz="2400" dirty="0">
                <a:solidFill>
                  <a:schemeClr val="tx1"/>
                </a:solidFill>
              </a:rPr>
              <a:t> </a:t>
            </a:r>
            <a:r>
              <a:rPr lang="en-US" sz="2400" dirty="0">
                <a:solidFill>
                  <a:srgbClr val="C00000"/>
                </a:solidFill>
              </a:rPr>
              <a:t>cache</a:t>
            </a:r>
            <a:r>
              <a:rPr lang="en-US" sz="2400" dirty="0">
                <a:solidFill>
                  <a:schemeClr val="tx1"/>
                </a:solidFill>
              </a:rPr>
              <a:t>, it is easy to find the recent value of a data item, since all written data are always sent to the memory, from which the most recent value of a data item can always be fetched.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457200"/>
            <a:ext cx="8839200" cy="6400800"/>
          </a:xfrm>
        </p:spPr>
        <p:txBody>
          <a:bodyPr>
            <a:noAutofit/>
          </a:bodyPr>
          <a:lstStyle/>
          <a:p>
            <a:pPr marL="465138" indent="-465138" algn="just"/>
            <a:r>
              <a:rPr lang="en-US" sz="2200" b="1" dirty="0">
                <a:solidFill>
                  <a:schemeClr val="tx1"/>
                </a:solidFill>
              </a:rPr>
              <a:t>Basic Implementation Techniques</a:t>
            </a:r>
          </a:p>
          <a:p>
            <a:pPr marL="465138" indent="-465138" algn="just">
              <a:buFont typeface="Arial" pitchFamily="34" charset="0"/>
              <a:buChar char="•"/>
            </a:pPr>
            <a:r>
              <a:rPr lang="en-US" sz="2200" dirty="0">
                <a:solidFill>
                  <a:schemeClr val="tx1"/>
                </a:solidFill>
              </a:rPr>
              <a:t>For a </a:t>
            </a:r>
            <a:r>
              <a:rPr lang="en-US" sz="2200" dirty="0">
                <a:solidFill>
                  <a:srgbClr val="C00000"/>
                </a:solidFill>
              </a:rPr>
              <a:t>write-back cache</a:t>
            </a:r>
            <a:r>
              <a:rPr lang="en-US" sz="2200" dirty="0">
                <a:solidFill>
                  <a:schemeClr val="tx1"/>
                </a:solidFill>
              </a:rPr>
              <a:t>, the problem of </a:t>
            </a:r>
            <a:r>
              <a:rPr lang="en-US" sz="2200" dirty="0">
                <a:solidFill>
                  <a:srgbClr val="C00000"/>
                </a:solidFill>
              </a:rPr>
              <a:t>finding the most recent data value is harder</a:t>
            </a:r>
            <a:r>
              <a:rPr lang="en-US" sz="2200" dirty="0">
                <a:solidFill>
                  <a:schemeClr val="tx1"/>
                </a:solidFill>
              </a:rPr>
              <a:t>, since the most recent value of a data item can be in a private cache rather than in the shared cache or memory. </a:t>
            </a:r>
          </a:p>
          <a:p>
            <a:pPr marL="465138" indent="-465138" algn="just">
              <a:buFont typeface="Arial" pitchFamily="34" charset="0"/>
              <a:buChar char="•"/>
            </a:pPr>
            <a:r>
              <a:rPr lang="en-US" sz="2200" dirty="0">
                <a:solidFill>
                  <a:schemeClr val="tx1"/>
                </a:solidFill>
              </a:rPr>
              <a:t>Write-back caches can use the snooping scheme both for cache misses and for writes: Each processor snoops every address placed on the shared bus. </a:t>
            </a:r>
          </a:p>
          <a:p>
            <a:pPr marL="465138" indent="-465138" algn="just">
              <a:buFont typeface="Arial" pitchFamily="34" charset="0"/>
              <a:buChar char="•"/>
            </a:pPr>
            <a:r>
              <a:rPr lang="en-US" sz="2200" dirty="0">
                <a:solidFill>
                  <a:schemeClr val="tx1"/>
                </a:solidFill>
              </a:rPr>
              <a:t>If a processor finds that it has a dirty copy of the requested cache block, it provides that cache block in response to the read request and causes the </a:t>
            </a:r>
            <a:r>
              <a:rPr lang="en-US" sz="2200" dirty="0">
                <a:solidFill>
                  <a:srgbClr val="C00000"/>
                </a:solidFill>
              </a:rPr>
              <a:t>memory (or L3) access to be aborted. </a:t>
            </a:r>
          </a:p>
          <a:p>
            <a:pPr marL="465138" indent="-465138" algn="just">
              <a:buFont typeface="Arial" pitchFamily="34" charset="0"/>
              <a:buChar char="•"/>
            </a:pPr>
            <a:r>
              <a:rPr lang="en-US" sz="2200" dirty="0">
                <a:solidFill>
                  <a:schemeClr val="tx1"/>
                </a:solidFill>
              </a:rPr>
              <a:t>The additional complexity comes from having to retrieve the cache block from another processor’s private cache (L1 or L2), which can often take longer than retrieving it from L3. </a:t>
            </a:r>
          </a:p>
          <a:p>
            <a:pPr marL="465138" indent="-465138" algn="just">
              <a:buFont typeface="Arial" pitchFamily="34" charset="0"/>
              <a:buChar char="•"/>
            </a:pPr>
            <a:r>
              <a:rPr lang="en-US" sz="2200" dirty="0">
                <a:solidFill>
                  <a:schemeClr val="tx1"/>
                </a:solidFill>
              </a:rPr>
              <a:t>Since write-back caches generate lower requirements for memory bandwidth, they can support larger numbers of faster processors. </a:t>
            </a:r>
          </a:p>
          <a:p>
            <a:pPr marL="465138" indent="-465138" algn="just">
              <a:buFont typeface="Arial" pitchFamily="34" charset="0"/>
              <a:buChar char="•"/>
            </a:pPr>
            <a:r>
              <a:rPr lang="en-US" sz="2200" dirty="0">
                <a:solidFill>
                  <a:schemeClr val="tx1"/>
                </a:solidFill>
              </a:rPr>
              <a:t>The normal cache tags can be used to implement the process of snooping, and the valid bit for each block makes invalidation easy to implement.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685800"/>
            <a:ext cx="8839200" cy="5486400"/>
          </a:xfrm>
        </p:spPr>
        <p:txBody>
          <a:bodyPr>
            <a:noAutofit/>
          </a:bodyPr>
          <a:lstStyle/>
          <a:p>
            <a:pPr marL="465138" indent="-465138" algn="just"/>
            <a:r>
              <a:rPr lang="en-US" sz="2200" b="1" dirty="0">
                <a:solidFill>
                  <a:schemeClr val="tx1"/>
                </a:solidFill>
              </a:rPr>
              <a:t>Basic Implementation Techniques</a:t>
            </a:r>
          </a:p>
          <a:p>
            <a:pPr marL="465138" indent="-465138" algn="just">
              <a:buFont typeface="Arial" pitchFamily="34" charset="0"/>
              <a:buChar char="•"/>
            </a:pPr>
            <a:r>
              <a:rPr lang="en-US" sz="2200" dirty="0">
                <a:solidFill>
                  <a:schemeClr val="tx1"/>
                </a:solidFill>
              </a:rPr>
              <a:t>For </a:t>
            </a:r>
            <a:r>
              <a:rPr lang="en-US" sz="2200" dirty="0">
                <a:solidFill>
                  <a:srgbClr val="C00000"/>
                </a:solidFill>
              </a:rPr>
              <a:t>writes</a:t>
            </a:r>
            <a:r>
              <a:rPr lang="en-US" sz="2200" dirty="0">
                <a:solidFill>
                  <a:schemeClr val="tx1"/>
                </a:solidFill>
              </a:rPr>
              <a:t>, if there are no other cached copies, then the write need not be placed on the bus in a write-back cache. </a:t>
            </a:r>
          </a:p>
          <a:p>
            <a:pPr marL="465138" indent="-465138" algn="just">
              <a:buFont typeface="Arial" pitchFamily="34" charset="0"/>
              <a:buChar char="•"/>
            </a:pPr>
            <a:r>
              <a:rPr lang="en-US" sz="2200" dirty="0">
                <a:solidFill>
                  <a:schemeClr val="tx1"/>
                </a:solidFill>
              </a:rPr>
              <a:t>Not sending the write </a:t>
            </a:r>
            <a:r>
              <a:rPr lang="en-US" sz="2200" dirty="0">
                <a:solidFill>
                  <a:srgbClr val="C00000"/>
                </a:solidFill>
              </a:rPr>
              <a:t>reduces both the time to write and the required bandwidth.</a:t>
            </a:r>
          </a:p>
          <a:p>
            <a:pPr marL="465138" indent="-465138" algn="just">
              <a:buFont typeface="Arial" pitchFamily="34" charset="0"/>
              <a:buChar char="•"/>
            </a:pPr>
            <a:r>
              <a:rPr lang="en-US" sz="2200" dirty="0">
                <a:solidFill>
                  <a:schemeClr val="tx1"/>
                </a:solidFill>
              </a:rPr>
              <a:t>To track whether or not a cache block is shared, we can add an extra state bit associated with each cache block, just as we have a valid bit and a dirty bit. </a:t>
            </a:r>
          </a:p>
          <a:p>
            <a:pPr marL="465138" indent="-465138" algn="just">
              <a:buFont typeface="Arial" pitchFamily="34" charset="0"/>
              <a:buChar char="•"/>
            </a:pPr>
            <a:r>
              <a:rPr lang="en-US" sz="2200" dirty="0">
                <a:solidFill>
                  <a:schemeClr val="tx1"/>
                </a:solidFill>
              </a:rPr>
              <a:t>By adding a bit indicating whether the block is shared, we can decide whether a write must generate an invalidate. </a:t>
            </a:r>
          </a:p>
          <a:p>
            <a:pPr marL="465138" indent="-465138" algn="just">
              <a:buFont typeface="Arial" pitchFamily="34" charset="0"/>
              <a:buChar char="•"/>
            </a:pPr>
            <a:r>
              <a:rPr lang="en-US" sz="2200" dirty="0">
                <a:solidFill>
                  <a:schemeClr val="tx1"/>
                </a:solidFill>
              </a:rPr>
              <a:t>When a write to a block in the shared state occurs, the cache generates an invalidation on the bus and marks the block as exclusive. </a:t>
            </a:r>
          </a:p>
          <a:p>
            <a:pPr marL="465138" indent="-465138" algn="just">
              <a:buFont typeface="Arial" pitchFamily="34" charset="0"/>
              <a:buChar char="•"/>
            </a:pPr>
            <a:r>
              <a:rPr lang="en-US" sz="2200" dirty="0">
                <a:solidFill>
                  <a:schemeClr val="tx1"/>
                </a:solidFill>
              </a:rPr>
              <a:t>The core with the sole copy of a cache block is normally called the </a:t>
            </a:r>
            <a:r>
              <a:rPr lang="en-US" sz="2200" dirty="0">
                <a:solidFill>
                  <a:srgbClr val="C00000"/>
                </a:solidFill>
              </a:rPr>
              <a:t>owner of the cache block</a:t>
            </a:r>
            <a:r>
              <a:rPr lang="en-US" sz="2200" dirty="0">
                <a:solidFill>
                  <a:schemeClr val="tx1"/>
                </a:solidFil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917575"/>
            <a:ext cx="8839200" cy="4800600"/>
          </a:xfrm>
        </p:spPr>
        <p:txBody>
          <a:bodyPr>
            <a:noAutofit/>
          </a:bodyPr>
          <a:lstStyle/>
          <a:p>
            <a:pPr marL="465138" indent="-465138" algn="just"/>
            <a:r>
              <a:rPr lang="en-US" sz="2200" b="1" dirty="0">
                <a:solidFill>
                  <a:schemeClr val="tx1"/>
                </a:solidFill>
              </a:rPr>
              <a:t>Basic Implementation Techniques</a:t>
            </a:r>
          </a:p>
          <a:p>
            <a:pPr marL="465138" indent="-465138" algn="just">
              <a:buFont typeface="Arial" pitchFamily="34" charset="0"/>
              <a:buChar char="•"/>
            </a:pPr>
            <a:r>
              <a:rPr lang="en-US" sz="2200" dirty="0">
                <a:solidFill>
                  <a:schemeClr val="tx1"/>
                </a:solidFill>
              </a:rPr>
              <a:t>When an invalidation is sent, the state of the owner’s cache block is changed from shared to unshared (or exclusive). If another processor later requests this cache block, the state must be made shared again. </a:t>
            </a:r>
          </a:p>
          <a:p>
            <a:pPr marL="465138" indent="-465138" algn="just"/>
            <a:r>
              <a:rPr lang="en-US" sz="2200" b="1" dirty="0">
                <a:solidFill>
                  <a:schemeClr val="tx1"/>
                </a:solidFill>
              </a:rPr>
              <a:t>An example protocol</a:t>
            </a:r>
          </a:p>
          <a:p>
            <a:pPr marL="465138" indent="-465138" algn="just">
              <a:buFont typeface="Arial" pitchFamily="34" charset="0"/>
              <a:buChar char="•"/>
            </a:pPr>
            <a:r>
              <a:rPr lang="en-US" sz="2200" dirty="0">
                <a:solidFill>
                  <a:schemeClr val="tx1"/>
                </a:solidFill>
              </a:rPr>
              <a:t>The simple protocol we consider has three states: </a:t>
            </a:r>
            <a:r>
              <a:rPr lang="en-US" sz="2200" dirty="0">
                <a:solidFill>
                  <a:srgbClr val="C00000"/>
                </a:solidFill>
              </a:rPr>
              <a:t>invalid, shared, and modified. </a:t>
            </a:r>
          </a:p>
          <a:p>
            <a:pPr marL="465138" indent="-465138" algn="just">
              <a:buFont typeface="Arial" pitchFamily="34" charset="0"/>
              <a:buChar char="•"/>
            </a:pPr>
            <a:r>
              <a:rPr lang="en-US" sz="2200" dirty="0">
                <a:solidFill>
                  <a:schemeClr val="tx1"/>
                </a:solidFill>
              </a:rPr>
              <a:t>The shared state indicates that the block in the private cache is potentially shared, while the modified state indicates that the block has been updated in the private cache; note that the modified state implies that the block is exclusive.</a:t>
            </a:r>
          </a:p>
          <a:p>
            <a:pPr marL="465138" indent="-465138" algn="just">
              <a:buFont typeface="Arial" pitchFamily="34" charset="0"/>
              <a:buChar char="•"/>
            </a:pPr>
            <a:r>
              <a:rPr lang="en-US" sz="2400" dirty="0">
                <a:solidFill>
                  <a:schemeClr val="tx1"/>
                </a:solidFill>
              </a:rPr>
              <a:t>This protocol is for a write-back cache</a:t>
            </a:r>
            <a:endParaRPr lang="en-US" sz="22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0"/>
            <a:ext cx="8839200" cy="6858000"/>
          </a:xfrm>
        </p:spPr>
        <p:txBody>
          <a:bodyPr>
            <a:noAutofit/>
          </a:bodyPr>
          <a:lstStyle/>
          <a:p>
            <a:pPr marL="465138" indent="-465138" algn="just"/>
            <a:endParaRPr lang="en-US" sz="2200" dirty="0">
              <a:solidFill>
                <a:schemeClr val="tx1"/>
              </a:solidFill>
            </a:endParaRPr>
          </a:p>
        </p:txBody>
      </p:sp>
      <p:pic>
        <p:nvPicPr>
          <p:cNvPr id="2050" name="Picture 2"/>
          <p:cNvPicPr>
            <a:picLocks noChangeAspect="1" noChangeArrowheads="1"/>
          </p:cNvPicPr>
          <p:nvPr/>
        </p:nvPicPr>
        <p:blipFill>
          <a:blip r:embed="rId2"/>
          <a:srcRect/>
          <a:stretch>
            <a:fillRect/>
          </a:stretch>
        </p:blipFill>
        <p:spPr bwMode="auto">
          <a:xfrm>
            <a:off x="0" y="0"/>
            <a:ext cx="9006352" cy="666538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0"/>
            <a:ext cx="8839200" cy="6858000"/>
          </a:xfrm>
        </p:spPr>
        <p:txBody>
          <a:bodyPr>
            <a:noAutofit/>
          </a:bodyPr>
          <a:lstStyle/>
          <a:p>
            <a:pPr marL="465138" indent="-465138" algn="just"/>
            <a:endParaRPr lang="en-US" sz="2200" dirty="0">
              <a:solidFill>
                <a:schemeClr val="tx1"/>
              </a:solidFill>
            </a:endParaRPr>
          </a:p>
        </p:txBody>
      </p:sp>
      <p:pic>
        <p:nvPicPr>
          <p:cNvPr id="3074" name="Picture 2"/>
          <p:cNvPicPr>
            <a:picLocks noChangeAspect="1" noChangeArrowheads="1"/>
          </p:cNvPicPr>
          <p:nvPr/>
        </p:nvPicPr>
        <p:blipFill>
          <a:blip r:embed="rId2"/>
          <a:srcRect/>
          <a:stretch>
            <a:fillRect/>
          </a:stretch>
        </p:blipFill>
        <p:spPr bwMode="auto">
          <a:xfrm>
            <a:off x="838200" y="0"/>
            <a:ext cx="6553200" cy="6901158"/>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0"/>
            <a:ext cx="8839200" cy="6858000"/>
          </a:xfrm>
        </p:spPr>
        <p:txBody>
          <a:bodyPr>
            <a:noAutofit/>
          </a:bodyPr>
          <a:lstStyle/>
          <a:p>
            <a:pPr marL="465138" indent="-465138" algn="just"/>
            <a:endParaRPr lang="en-US" sz="2200" dirty="0">
              <a:solidFill>
                <a:schemeClr val="tx1"/>
              </a:solidFill>
            </a:endParaRPr>
          </a:p>
        </p:txBody>
      </p:sp>
      <p:pic>
        <p:nvPicPr>
          <p:cNvPr id="4098" name="Picture 2"/>
          <p:cNvPicPr>
            <a:picLocks noChangeAspect="1" noChangeArrowheads="1"/>
          </p:cNvPicPr>
          <p:nvPr/>
        </p:nvPicPr>
        <p:blipFill>
          <a:blip r:embed="rId2"/>
          <a:srcRect/>
          <a:stretch>
            <a:fillRect/>
          </a:stretch>
        </p:blipFill>
        <p:spPr bwMode="auto">
          <a:xfrm>
            <a:off x="533400" y="-43970"/>
            <a:ext cx="7772400" cy="6683829"/>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152400" y="457200"/>
            <a:ext cx="8839200" cy="6400800"/>
          </a:xfrm>
        </p:spPr>
        <p:txBody>
          <a:bodyPr>
            <a:noAutofit/>
          </a:bodyPr>
          <a:lstStyle/>
          <a:p>
            <a:pPr marL="465138" indent="-465138" algn="just">
              <a:buFont typeface="Arial" pitchFamily="34" charset="0"/>
              <a:buChar char="•"/>
            </a:pPr>
            <a:r>
              <a:rPr lang="en-US" sz="2400" dirty="0">
                <a:solidFill>
                  <a:schemeClr val="tx1"/>
                </a:solidFill>
              </a:rPr>
              <a:t>When an invalidate or a write miss is placed on the bus, any cores whose private caches have copies of the cache block invalidate it. </a:t>
            </a:r>
          </a:p>
          <a:p>
            <a:pPr marL="465138" indent="-465138" algn="just">
              <a:buFont typeface="Arial" pitchFamily="34" charset="0"/>
              <a:buChar char="•"/>
            </a:pPr>
            <a:r>
              <a:rPr lang="en-US" sz="2400" dirty="0">
                <a:solidFill>
                  <a:schemeClr val="tx1"/>
                </a:solidFill>
              </a:rPr>
              <a:t>For a write miss in a write-back cache, if the block is exclusive in just one private cache, that cache also writes back the block; otherwise, the data can be read from the shared cache or memory. </a:t>
            </a:r>
          </a:p>
          <a:p>
            <a:pPr marL="465138" indent="-465138" algn="just">
              <a:buFont typeface="Arial" pitchFamily="34" charset="0"/>
              <a:buChar char="•"/>
            </a:pPr>
            <a:r>
              <a:rPr lang="en-US" sz="2400" dirty="0">
                <a:solidFill>
                  <a:schemeClr val="tx1"/>
                </a:solidFill>
              </a:rPr>
              <a:t>Any transition to the exclusive state (which is required for a processor to write to the block) requires an invalidate or write miss to be placed on the bus, causing all local caches to make the block invalid.</a:t>
            </a:r>
          </a:p>
          <a:p>
            <a:pPr marL="465138" indent="-465138" algn="just">
              <a:buFont typeface="Arial" pitchFamily="34" charset="0"/>
              <a:buChar char="•"/>
            </a:pPr>
            <a:r>
              <a:rPr lang="en-US" sz="2400" dirty="0">
                <a:solidFill>
                  <a:schemeClr val="tx1"/>
                </a:solidFill>
              </a:rPr>
              <a:t>In addition, if some other local cache had the block in exclusive state, that local cache generates a write-back, which supplies the block containing the desired address. </a:t>
            </a:r>
          </a:p>
          <a:p>
            <a:pPr marL="465138" indent="-465138" algn="just">
              <a:buFont typeface="Arial" pitchFamily="34" charset="0"/>
              <a:buChar char="•"/>
            </a:pPr>
            <a:r>
              <a:rPr lang="en-US" sz="2400" dirty="0">
                <a:solidFill>
                  <a:schemeClr val="tx1"/>
                </a:solidFill>
              </a:rPr>
              <a:t>Finally, if a read miss occurs on the bus to a block in the exclusive state, the local cache with the exclusive copy changes its state to shared.</a:t>
            </a:r>
            <a:endParaRPr lang="en-US" sz="22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6200"/>
            <a:ext cx="8305800" cy="460375"/>
          </a:xfrm>
        </p:spPr>
        <p:txBody>
          <a:bodyPr>
            <a:noAutofit/>
          </a:bodyPr>
          <a:lstStyle/>
          <a:p>
            <a:r>
              <a:rPr lang="en-US" sz="3600" b="1" dirty="0"/>
              <a:t>Snooping Cache Coherence Protocols</a:t>
            </a:r>
            <a:endParaRPr lang="en-US" sz="3600" dirty="0"/>
          </a:p>
        </p:txBody>
      </p:sp>
      <p:sp>
        <p:nvSpPr>
          <p:cNvPr id="3" name="Subtitle 2"/>
          <p:cNvSpPr>
            <a:spLocks noGrp="1"/>
          </p:cNvSpPr>
          <p:nvPr>
            <p:ph type="subTitle" idx="1"/>
          </p:nvPr>
        </p:nvSpPr>
        <p:spPr>
          <a:xfrm>
            <a:off x="0" y="914400"/>
            <a:ext cx="8839200" cy="5943600"/>
          </a:xfrm>
        </p:spPr>
        <p:txBody>
          <a:bodyPr>
            <a:noAutofit/>
          </a:bodyPr>
          <a:lstStyle/>
          <a:p>
            <a:pPr marL="465138" indent="-465138" algn="just"/>
            <a:r>
              <a:rPr lang="en-US" sz="2400" b="1" dirty="0">
                <a:solidFill>
                  <a:schemeClr val="tx1"/>
                </a:solidFill>
              </a:rPr>
              <a:t>Extensions to the Basic Coherence Protocol</a:t>
            </a:r>
          </a:p>
          <a:p>
            <a:pPr marL="465138" indent="-465138" algn="just">
              <a:buFont typeface="+mj-lt"/>
              <a:buAutoNum type="arabicPeriod"/>
            </a:pPr>
            <a:r>
              <a:rPr lang="en-US" sz="2400" dirty="0">
                <a:solidFill>
                  <a:schemeClr val="tx1"/>
                </a:solidFill>
              </a:rPr>
              <a:t>The popular MESI protocol, which is named for the four states it includes (Modified, Exclusive, Shared, and Invalid). It adds the state Exclusive to the basic MSI protocol to indicate when a cache block is resident only in a single cache but is clean.</a:t>
            </a:r>
          </a:p>
          <a:p>
            <a:pPr marL="465138" indent="-465138" algn="just">
              <a:buFont typeface="+mj-lt"/>
              <a:buAutoNum type="arabicPeriod"/>
            </a:pPr>
            <a:r>
              <a:rPr lang="en-US" sz="2400" dirty="0">
                <a:solidFill>
                  <a:schemeClr val="tx1"/>
                </a:solidFill>
              </a:rPr>
              <a:t>MOESI adds the state Owned to the MESI protocol to indicate that the associated block is owned by that cache and out-of-date in memory.</a:t>
            </a:r>
          </a:p>
          <a:p>
            <a:pPr algn="just"/>
            <a:endParaRPr lang="en-US" sz="24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b="1" dirty="0">
                <a:solidFill>
                  <a:srgbClr val="0000FF"/>
                </a:solidFill>
              </a:rPr>
              <a:t>Limitations in Symmetric Shared-Memory Multiprocessors and Snooping Protocols</a:t>
            </a:r>
            <a:endParaRPr lang="en-IN" dirty="0">
              <a:solidFill>
                <a:srgbClr val="0000FF"/>
              </a:solidFill>
            </a:endParaRPr>
          </a:p>
        </p:txBody>
      </p:sp>
      <p:sp>
        <p:nvSpPr>
          <p:cNvPr id="5" name="Content Placeholder 4"/>
          <p:cNvSpPr>
            <a:spLocks noGrp="1"/>
          </p:cNvSpPr>
          <p:nvPr>
            <p:ph idx="1"/>
          </p:nvPr>
        </p:nvSpPr>
        <p:spPr/>
        <p:txBody>
          <a:bodyPr>
            <a:normAutofit fontScale="70000" lnSpcReduction="20000"/>
          </a:bodyPr>
          <a:lstStyle/>
          <a:p>
            <a:pPr algn="just"/>
            <a:r>
              <a:rPr lang="en-IN" dirty="0"/>
              <a:t>As the number of processors in a multiprocessor grows, or as the memory demands of each processor grow, any centralized resource in the system can become a bottleneck.</a:t>
            </a:r>
          </a:p>
          <a:p>
            <a:pPr algn="just"/>
            <a:r>
              <a:rPr lang="en-IN" dirty="0"/>
              <a:t>Using the higher bandwidth connection available on-chip and a shared L3 cache, which is faster than memory, designers have managed to support </a:t>
            </a:r>
            <a:r>
              <a:rPr lang="en-IN" dirty="0">
                <a:solidFill>
                  <a:srgbClr val="FF0000"/>
                </a:solidFill>
              </a:rPr>
              <a:t>four to eight high-performance cores </a:t>
            </a:r>
            <a:r>
              <a:rPr lang="en-IN" dirty="0"/>
              <a:t>in a symmetric fashion. Such an approach is unlikely to scale much past eight cores, and it will not work once multiple </a:t>
            </a:r>
            <a:r>
              <a:rPr lang="en-IN" dirty="0" err="1"/>
              <a:t>multicores</a:t>
            </a:r>
            <a:r>
              <a:rPr lang="en-IN" dirty="0"/>
              <a:t> are combined.</a:t>
            </a:r>
          </a:p>
          <a:p>
            <a:pPr algn="just"/>
            <a:r>
              <a:rPr lang="en-IN" dirty="0"/>
              <a:t>Snooping bandwidth at the caches can also become a problem, since every cache must examine every miss placed on the bus.</a:t>
            </a:r>
          </a:p>
          <a:p>
            <a:pPr lvl="1" algn="just"/>
            <a:r>
              <a:rPr lang="en-IN" dirty="0"/>
              <a:t>duplicating the tags is one solution.</a:t>
            </a:r>
          </a:p>
          <a:p>
            <a:pPr lvl="1" algn="just"/>
            <a:r>
              <a:rPr lang="en-IN" dirty="0"/>
              <a:t> Another approach is to place a directory at the level of the outermost cache.</a:t>
            </a:r>
          </a:p>
        </p:txBody>
      </p:sp>
    </p:spTree>
    <p:extLst>
      <p:ext uri="{BB962C8B-B14F-4D97-AF65-F5344CB8AC3E}">
        <p14:creationId xmlns:p14="http://schemas.microsoft.com/office/powerpoint/2010/main" val="2744906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IN" dirty="0"/>
              <a:t>To increase the communication bandwidth between processors and memory, designers have used multiple buses as well as </a:t>
            </a:r>
            <a:r>
              <a:rPr lang="en-IN" dirty="0">
                <a:solidFill>
                  <a:srgbClr val="FF0000"/>
                </a:solidFill>
              </a:rPr>
              <a:t>interconnection networks, such as crossbars</a:t>
            </a:r>
            <a:r>
              <a:rPr lang="en-IN" dirty="0"/>
              <a:t> or small point-to-point networks</a:t>
            </a:r>
          </a:p>
          <a:p>
            <a:pPr algn="just"/>
            <a:r>
              <a:rPr lang="en-IN" dirty="0"/>
              <a:t>The memory system can be configured into multiple physical banks, </a:t>
            </a:r>
          </a:p>
          <a:p>
            <a:pPr lvl="1" algn="just"/>
            <a:r>
              <a:rPr lang="en-IN" dirty="0"/>
              <a:t>It boosts the effective </a:t>
            </a:r>
            <a:r>
              <a:rPr lang="en-IN" dirty="0">
                <a:solidFill>
                  <a:srgbClr val="FF0000"/>
                </a:solidFill>
              </a:rPr>
              <a:t>memory bandwidth </a:t>
            </a:r>
            <a:r>
              <a:rPr lang="en-IN" dirty="0"/>
              <a:t>while retaining </a:t>
            </a:r>
            <a:r>
              <a:rPr lang="en-IN" dirty="0">
                <a:solidFill>
                  <a:srgbClr val="FF0000"/>
                </a:solidFill>
              </a:rPr>
              <a:t>uniform access time to memory.</a:t>
            </a:r>
          </a:p>
        </p:txBody>
      </p:sp>
    </p:spTree>
    <p:extLst>
      <p:ext uri="{BB962C8B-B14F-4D97-AF65-F5344CB8AC3E}">
        <p14:creationId xmlns:p14="http://schemas.microsoft.com/office/powerpoint/2010/main" val="1113561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00FF"/>
                </a:solidFill>
              </a:rPr>
              <a:t>A multicore single-chip multiprocessor with interconnection network</a:t>
            </a:r>
            <a:endParaRPr lang="en-IN" dirty="0">
              <a:solidFill>
                <a:srgbClr val="0000FF"/>
              </a:solidFill>
            </a:endParaRPr>
          </a:p>
        </p:txBody>
      </p:sp>
      <p:pic>
        <p:nvPicPr>
          <p:cNvPr id="4" name="Content Placeholder 3"/>
          <p:cNvPicPr>
            <a:picLocks noGrp="1" noChangeAspect="1"/>
          </p:cNvPicPr>
          <p:nvPr>
            <p:ph idx="1"/>
          </p:nvPr>
        </p:nvPicPr>
        <p:blipFill>
          <a:blip r:embed="rId2"/>
          <a:stretch>
            <a:fillRect/>
          </a:stretch>
        </p:blipFill>
        <p:spPr>
          <a:xfrm>
            <a:off x="628650" y="2104159"/>
            <a:ext cx="7886700" cy="3385814"/>
          </a:xfrm>
          <a:prstGeom prst="rect">
            <a:avLst/>
          </a:prstGeom>
        </p:spPr>
      </p:pic>
    </p:spTree>
    <p:extLst>
      <p:ext uri="{BB962C8B-B14F-4D97-AF65-F5344CB8AC3E}">
        <p14:creationId xmlns:p14="http://schemas.microsoft.com/office/powerpoint/2010/main" val="2696595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20000"/>
          </a:bodyPr>
          <a:lstStyle/>
          <a:p>
            <a:pPr algn="just"/>
            <a:r>
              <a:rPr lang="en-IN" dirty="0"/>
              <a:t>A snooping cache coherence protocol can be used </a:t>
            </a:r>
            <a:r>
              <a:rPr lang="en-IN" dirty="0">
                <a:solidFill>
                  <a:srgbClr val="FF0000"/>
                </a:solidFill>
              </a:rPr>
              <a:t>without a centralized bus,</a:t>
            </a:r>
            <a:r>
              <a:rPr lang="en-IN" dirty="0"/>
              <a:t> but still requires that a broadcast be done to snoop the individual caches on every miss to a potentially shared cache block.</a:t>
            </a:r>
          </a:p>
          <a:p>
            <a:pPr algn="just"/>
            <a:r>
              <a:rPr lang="en-IN" dirty="0"/>
              <a:t>cache coherence </a:t>
            </a:r>
            <a:r>
              <a:rPr lang="en-IN" dirty="0">
                <a:solidFill>
                  <a:srgbClr val="FF0000"/>
                </a:solidFill>
              </a:rPr>
              <a:t>traffic</a:t>
            </a:r>
            <a:r>
              <a:rPr lang="en-IN" dirty="0"/>
              <a:t> creates another limit on the scale and the speed of the processors</a:t>
            </a:r>
          </a:p>
          <a:p>
            <a:pPr lvl="1" algn="just"/>
            <a:r>
              <a:rPr lang="en-IN" dirty="0"/>
              <a:t>coherence traffic is unaffected by larger caches, faster processors will inevitably overwhelm the network and the ability of each cache to respond to snoop requests from </a:t>
            </a:r>
            <a:r>
              <a:rPr lang="en-IN" i="1" dirty="0"/>
              <a:t>all </a:t>
            </a:r>
            <a:r>
              <a:rPr lang="en-IN" dirty="0"/>
              <a:t>the other caches</a:t>
            </a:r>
          </a:p>
        </p:txBody>
      </p:sp>
    </p:spTree>
    <p:extLst>
      <p:ext uri="{BB962C8B-B14F-4D97-AF65-F5344CB8AC3E}">
        <p14:creationId xmlns:p14="http://schemas.microsoft.com/office/powerpoint/2010/main" val="1474355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1624</Words>
  <Application>Microsoft Office PowerPoint</Application>
  <PresentationFormat>On-screen Show (4:3)</PresentationFormat>
  <Paragraphs>79</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Snooping Cache Coherence Protocols</vt:lpstr>
      <vt:lpstr>Snooping Cache Coherence Protocols</vt:lpstr>
      <vt:lpstr>Snooping Cache Coherence Protocols</vt:lpstr>
      <vt:lpstr>Snooping Cache Coherence Protocols</vt:lpstr>
      <vt:lpstr>Snooping Cache Coherence Protocols</vt:lpstr>
      <vt:lpstr>Snooping Cache Coherence Protocols</vt:lpstr>
      <vt:lpstr>Snooping Cache Coherence Protocols</vt:lpstr>
      <vt:lpstr>Snooping Cache Coherence Protocols</vt:lpstr>
      <vt:lpstr>PowerPoint Presentation</vt:lpstr>
      <vt:lpstr>PowerPoint Presentation</vt:lpstr>
      <vt:lpstr>PowerPoint Presentation</vt:lpstr>
      <vt:lpstr>Snooping Cache Coherence Protocols</vt:lpstr>
      <vt:lpstr>Snooping Cache Coherence Protocols</vt:lpstr>
      <vt:lpstr>Limitations in Symmetric Shared-Memory Multiprocessors and Snooping Protocols</vt:lpstr>
      <vt:lpstr>PowerPoint Presentation</vt:lpstr>
      <vt:lpstr>A multicore single-chip multiprocessor with interconnection network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Snooping Cache Coherence Protocols</dc:title>
  <dc:creator>ananthi</dc:creator>
  <cp:lastModifiedBy>Priyadharsini S</cp:lastModifiedBy>
  <cp:revision>37</cp:revision>
  <dcterms:created xsi:type="dcterms:W3CDTF">2016-08-31T08:07:25Z</dcterms:created>
  <dcterms:modified xsi:type="dcterms:W3CDTF">2024-02-07T09:42:35Z</dcterms:modified>
</cp:coreProperties>
</file>