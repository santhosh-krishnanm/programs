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1:14.462"/>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6967 79,'18'0,"-18"0,35-18,-35 18,18 0,17-17,0 17,1 0,-1 0,18 0,0 0,0 0,17 0,1 0,-1 0,36 0,-35 0,-1 0,1 0,17 0,-35 0,0 0,0 0,-18 0,18 0,0 0,0 0,17 0,-17 0,0 0,18 0,-18 0,0 0,0 0,-18 0,-17 0,17 0,0 0,-17 0,-1 0,19 0,-1 0,-17-18,35 18,-53-18,17 18,1 0,-1 0</inkml:trace>
  <inkml:trace contextRef="#ctx0" brushRef="#br0" timeOffset="1731">10231 97,'-18'17,"18"-17,18 0,17 0,-17 0,17 0,18 0,17 0,36 0,18 0,17 0,17 0,19 0,-1 0,-17 0,-36 0,1 0,-36 0,18 0,-36 0,1 0,-18 0,17 0,-34 0,-1 0,0 18,18-18,35 0,-17 0,17 0,18 0,-18 0,36 0,-18 0,-1 18,-16-18,16 17,19-17,-1 0,1 0,-36 0,35 0,-17 0,-17 0,16 0,-16 0,-19 0,18 0,-17 0,-1 0,1 0,17 0,-35 0,18 0,17 0,18 0,17 0,18 0,53 0,0 0,0 0,-17 0,17 0,-18 0,-17 0,0 0,-18 0,-18 0,1 0,-36 0,-18 0,-17 0,18 0,-36 0,0 0,1 0,17 0,0 0,-1 0,1 0,0 0,0 0,0 0,-35 0,-1 0,19 0,-36 0,17 0</inkml:trace>
  <inkml:trace contextRef="#ctx0" brushRef="#br0" timeOffset="5553">0 1155,'0'0,"18"0,-1 0,-17 0,18 0,-18 0,35 0,1 0,-19 0,1 0,17 0,18 0,0 0,0 0,0 0,17 0,18 0,18 0,18 0,-1 0,-35 0,18 0,-18 0,1 0,-36 0,0 0,-1 0,1 0,-17 0,17 0,-1-18,1 1,18-1,-1 18,-17 0,0 0,18 0,-1 0,-17 0,18 0,-18 0,35 0,-17 0,-1 0,-17 0,0 0,0 0,0 0,0 0,0 0,0 0,17 0,-17 0,0 0,17 0,1 0,35 0,-36 0,19 0,16 0,-34 0,0 0,34 0,-34 0,35 0,-18 0,35 0,1 0,-1 0,18 0,1 0,-1 0,17 0,-16 0,-1 0,0 0,-18 0,1 0,-1 0,1 0,-1 0,18 0,-17 0,17 0,-18 0,18 0,-17 0,-1 0,1 0,-36 0,18 0,0 0,-36 0,-17 0,18 0,-18 0,0 0,0 0,17 0,1 0,17 0,-18 0,1 0,-1 0,36 0,-18 0,36 0,-1 0,-17 0,-18 0,1 0,-19 0,18 0,18 0,-18 0,18 0,18 0,-36 0,35 0,1 0,-1 0,1 0,-1 0,1 0,17 0,0 0,-18 0,19 0,-19 0,1 0,-1 0,-35 0,0 0,-17 0,-18 0,-18 0,0-18,1 18,-19 0,1 0,17 0,1-17,-1 17,0-18,-17 18,17 0,0 0,18 0,0 0,18 0,17 0,18 0,17 0,1 0,-19 0,54 0,-35 0,-36 0,18 0,-36 0,1 0,-1 0,-17 0,0 0,0-18,-18 1,1 17,-1-18,18 18,-18 0,18-17,-18 17,18-18,0 18,18 0,17-18,-35 1,0-1,0 18,17-18,-34 18,-1 0,-18-17,19 17,-19 0,1-18,17 18,-35 0,36 0,-19 0,18 0,-17 0,17 0,18 0,0 0,0 0,-18 0,18 0,-17 0,-1 0,0 0,18 0,0 0,-18 0,18 0,-18 0,1 0,-1 0,0 0,-17 0,0 0,17 0,0 0,-17 0,17 0,-17 0,-18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1:30.155"/>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0 113,'0'0,"17"0,1 0,-18 0,17 0,-17 0,36 0,-1 0,0 0,1 0,-1 0,18 0,0 0,17 0,18 0,-17 0,0 0,-19 0,1 0,0 0,0 0,0 0,0 0,18 0,17 0,-18 0,1 0,-1 0,36 0,-35 0,-1 0,19 0,-1 0,18 0,-18 0,18 0,-18 0,18 0,-36 0,36 0,-35 0,17 0,0 0,-17 0,-1 0,1 0,17 0,0 0,18 0,-18 0,36 0,-1 0,1 0,-1 0,18 0,0 0,0 0,-17 0,-1 0,1 0,-18 0,-18 0,18 0,17 0,1 0,-36 0,35 0,1 0,-1 0,1 0,-36 0,18 0,-18 0,18 0,-18 0,18 0,0 0,-18 0,18 0,-18 0,18 0,17 0,-35 0,36 0,-1 0,1 0,-1 0,18 0,-17 0,-1 0,1 0,-18 0,17 0,0 0,1 0,17 0,-17 0,-1 0,18 0,-17 0,-1 0,0 0,19 0,-1 0,17 0,-16 0,-1 0,0 0,35 0,-17 0,17 0,18 0,0 0,-35 0,18 0,-19 0,1 0,-18 0,0 0,-17 0,17 0,0 0,-18 0,1-13,-18 0,0 2,-36 11,1-13,-18 0,-1 13,1-11,0-2,0 13,0 0,0-12,0 0,0 12,0 0,0 0,0 0,0 0,-18 0,0 0,18 0,-35 0,-18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1:50.560"/>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0 142,'0'0,"0"0,35 0,-17 0,17 0,18 0,-18 0,0 0,1 0,-1 0,18 0,-18 0,0 0,1 0,17 0,-1 0,1 0,18 0,17 0,-35 0,18 0,-1 0,1 0,-1 0,18 0,-17 0,17 0,0 0,-35-18,0 0,0 18,0 0,18-17,17-1,-18 18,-17 0,18 0,-1 0,19 0,-19 0,18 0,18 0,-35 0,35 0,-36 0,1 0,35 0,-18 0,-18 0,36 0,0 0,-18 0,18 0,-35 0,-1 0,1 0,17 0,-18 0,1 0,0 0,17 0,-18 0,1 0,-1 0,1 0,-18 0,35 0,-17 0,17 0,18 0,-36 0,1 0,17 0,-18 0,1 0,0 0,-1 0,1 0,-1 0,1 0,-1 0,1 0,-1 0,19 0,-19 0,1 0,-18 0,0 0,0 0,-1 0,1 0,0 0,0 0,0 0,18 0,-18 0,17 0,-17 0,0 0,0 0,0 0,0 0,0 0,17 0,-17 0,-18 0,18 0,-17 0,-1 0,0 0,-17 0,-1 0,1 0,17 0,-17 0,0 0,-18 0,17 0,-17 0,18 0,0 0,17-18,0 18,0-17,-17 17,35 0,-35 0,-18 0,35 0,-35 0,35-18,0 18,-35 0,18 0,0-18</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4:15.516"/>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299 888,'0'0,"0"0,36 0,16 0,-34 0,-1 0,18 0,0 0,18 0,18 0,-2 0,2 0,17 0,0 0,17 0,-17 0,-17 0,16 0,-16 0,-1 0,-17 0,-1 0,1 0,0 0,0 0,34 0,-17 0,1 0,0 0,-2 0,37 0,-35 0,-1 0,35 0,1 0,-19 0,19 0,-36 0,1 0,-2 0,20 0,-19 0,0 0,0 0,-17 0,18 0,-19 0,1 0,17 0,-17 0,0 0,-1 0,19 0,-19 0,1 0,0 0,-1 0,1 0,0 0,0 0,17 0,-18 0,1 14,0-14,18 0,-18 15,16-15,19 15,-35-1,35 1,-18 0,-17 0,0-15,-18 0,35 0,-17 0,0 0,0 0,-1 0,0 0,1 0,0 0,-18 0,1 0,17 0,-1 0,-17 0,0 0,18 0,-18 0,18 0,-18 0,35 0,-17 0,0 0,-18 0,18 0,-19 0,2 0,-1 0,18 0,-35 0,-1 0,18 0,-35 0,36 0,-2-15,-34 15,18 0,-18 0,35 0,-35-15,18 0,-18 15,0-14,0 14,17-30,-17 16,0-1,0-1,0-13,0 0,0-1,0-14,0 0,0-1,0 1,0-1,0 1,0 15,0-1,0 0,0 1,0-16,0 16,-17 14,17-14,-18 13,18-13,0 14,0 1,0-1,-18 0,18 0,-17 0,-1 15,18-14,-18 14,18 0,-34 0,-19 0,18 0,-18 0,0 0,-34 0,-37 0,-16 0,-1 0,-34 0,34 0,1 0,16 0,19 0,17 0,-18 0,19 0,-36 0,18 0,17 0,-1 0,19 0,-35 0,17 0,-17 0,17 0,-18 0,19 0,-37 0,1 0,0 0,0 14,0 1,0 0,18-15,17 0,0 0,18 0,0 0,17 0,0 0,-35 0,-17 0,16 0,-15 0,33 0,18 0,0 0,1 0,17 0,0 0,-18 0,0 0,-18 0,2 0,-19 0,-1 0,20 0,-37 0,35 0,1 0,-17 0,-1 0,17 0,-16 0,16 0,1 0,17 0,-17 0,17 0,0 0,18 0,-18 0,36 0,0 0,-18 0,17 0,0 0,1 0,17 0,-18 0,0 15,18 0,0-1,0 16,18 15,0-16,-18 15,0 1,17-1,1 0,-18-14,0-1,18 1,-18-15,0 14,0-14,0 0,0 29,0-44,0 30,0-16,0 31,0-30,0 0,0 14,0-15,0 2,0 13,0-14,0 0,0-15,0 14,0 1,0 0,35-15,-1 0,19 0,0 0,18 0,-1 0,0 0,18 0,-18 0,-18 0,-16 0,-1-15,0 15,-35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4:21.288"/>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9,'0'0,"35"0,1 0,-19 0,19 0,-1 0,18 0,17 0,36 0,0 0,53 0,-18 0,35 0,-35 18,0 17,18-17,-18 35,18-36,-18 1,0 0,18-1,-18-17,-17 0,-1 0,1 0,-36 0,18 0,-18 0,-18 0,36 0,0 0,-18 0,18 0,17 0,-17 0,0 0,18 0,-36 0,18 0,-1 0,-16 0,16 0,-16 0,-19 0,18 0,1 0,-19 0,36 0,0 0,-18 0,18 0,-18 0,18 0,-18 0,18 0,-18 0,36 0,-1 0,-17 0,-18 0,18 0,-35 0,34 0,-16 0,-37 0,19 0,35 0,-36 0,36 0,-35 0,17 0,18 0,0 0,-18 0,-18 0,19 0,-19 0,-17 18,18-18,17 0,0 18,18-18,-18 0,18 0,-36 0,1 0,0 0,-36 0,0 0,0 0,1 0,17 0,-18 0,18 0,0 0,0 0,17 0,1 0,-1 0,18 0,-35 0,0 0,0 0,0-18,0 0,-18 18,18 0,-35-17,-1 17,19 0,-19-18</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4:46.014"/>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0 177,'0'0,"0"0,53-18,-18 18,18-18,18 1,34-1,19 0,-1-17,36 17,18 1,-19-1,36 18,0 0,18 0,0 0,17 0,0 0,-17 0,-18 0,-18 0,-35 0,-17 0,-36 0,0 0,-35 0,-17 0,-19 0,1 0</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4:48.151"/>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15,'53'0,"-36"0,1 0,17 0,-17 0,17 0,1 0,-1 0,-17 0,-1 0,18 0,1 0,34 0,1 0,52 0,1 0,17 0,0 0,0 0,35 0,-34 0,-19 0,1 0,17 0,-18 0,18 0,0 0,-17 0,35 0,-54 0,19 0,-18 0,17 0,1 0,17 0,-18 0,18 18,18-1,-18-17,-17 0,-1 0,18 0,0 0,1 36,-19-36,0 17,1-17,35 0,-1 0,19 0,-18 0,17 0,-17 0,17 0,-17 0,0 0,-54 0,1 0,-35 0,-18 0,0 0,-18 0,-17 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4:21.288"/>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9,'0'0,"35"0,1 0,-19 0,19 0,-1 0,18 0,17 0,36 0,0 0,53 0,-18 0,35 0,-35 18,0 17,18-17,-18 35,18-36,-18 1,0 0,18-1,-18-17,-17 0,-1 0,1 0,-36 0,18 0,-18 0,-18 0,36 0,0 0,-18 0,18 0,17 0,-17 0,0 0,18 0,-36 0,18 0,-1 0,-16 0,16 0,-16 0,-19 0,18 0,1 0,-19 0,36 0,0 0,-18 0,18 0,-18 0,18 0,-18 0,18 0,-18 0,36 0,-1 0,-17 0,-18 0,18 0,-35 0,34 0,-16 0,-37 0,19 0,35 0,-36 0,36 0,-35 0,17 0,18 0,0 0,-18 0,-18 0,19 0,-19 0,-17 18,18-18,17 0,0 18,18-18,-18 0,18 0,-36 0,1 0,0 0,-36 0,0 0,0 0,1 0,17 0,-18 0,18 0,0 0,0 0,17 0,1 0,-1 0,18 0,-35 0,0 0,0 0,0-18,0 0,-18 18,18 0,-35-17,-1 17,19 0,-19-18</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5:38.182"/>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0 152,'0'0,"35"0,0 0,1 0,17 0,0 0,17 0,18 0,-17 0,-1 0,36 0,-18 0,18 0,-18 0,18 0,-18 0,18 0,-35 0,-1 0,19 0,-36 0,-1 0,-16 0,-1 0,0 0,1 0,16 0,1 0,0 0,-17 0,16 0,-16 0,17 0,0 0,-1 0,1 0,0 0,36 0,-19 0,-17 0,0 0,17 0,-17 0,0 0,-17 0,17 0,-1 0,1 0,-17 0,17 0,-1 0,1 0,0 0,0 0,0 0,18 0,17 0,-35 0,17 0,-17 0,18 0,-18 0,0 0,0 0,-1 0,1 0,0 0,0 0,0 0,18 0,17 0,0 0,-17 0,34 0,1 0,0 0,18 0,-1 0,1 0,-1 0,1 0,-1 0,0 0,-17 0,17 0,0 0,1 0,17 0,18 0,-18 0,0 0,0 0,-18 0,18 0,18 0,-18 0,-17 0,-1 0,18 0,1 0,-1 0,0 0,-18 0,36-22,-18 1,18-1,-18 12,18-12,-18 12,0-1,18 0,-36 11,-17 0,17 0,-17 0,-18 0,18 0,-35 0,-1 0,19 0,-19 0,-17 0,18 0,-1 0,18 0,-17 0,-18 0,0-10,0-1,0 11,-1 0,19 0,-18 0,0 0,0 0,-36 0,1 0,0 0</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5:41.583"/>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0,'0'0,"0"0,17 0,1 0,-18 0,18 0,-18 0,17 0,19 0,-19 0,19 0,34 0,1 0,17 0,18 0,17 0,-17 0,0 0,17 0,-35 0,18 0,0 0,0 0,17 0,36 0,-53 0,53 0,-36 0,-17 0,18 0,-19 0,-16 0,34 0,1 0,-19 0,-16 0,16 0,-34 0,-18 0,0 0,-18 0,18 0,-18 0,18 0,-18 0,1 0,17 0,0 0,0 0,-18 0,18 0,0 0,0 0,-1 0,1 0,0 0,0 0,0 0,18 0,-18 0,0 0,17 0,-35 0,-17 0,0 0,17 0,-17 0,-1 0,18 0,1 0,-1 0,0 0,1 0,-1 0,0 0,-17 0,-1 0,19 0,-19 0,1 0,-18 0,18 0,-18 0,35 0,0 0,-17 0,17 0,0 0,36 0,-18 0,-18 0,0 0,-17 0,0 0,-18 0</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6:26.901"/>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0,'0'0,"36"0,-1 0,18 0,0 0,0 0,17 0,1 0,35 0,-18 0,18 0,-18 0,35 0,-17 0,18 0,-1 0,0 0,19 0,16 0,19 0,-36 0,35 0,-35 0,0 0,-17 0,-36 0,0 0,-35 0,-18 0,1 0,-1 0,0 0,36 0,-18 0,0 0,17 0,-17 0,0 0,18 0,-18 0,0 0,-1 0,-16 0,-1 0</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26:29.163"/>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0 231,'0'18,"0"-18,17 0,-17 0,18 0,0 0,-18 0,17 0,-17 0,18 0,-18 0,18 0,-1 0,36 0,-35 0,17 0,0 0,18 0,0 0,18 0,17 0,0 0,18 0,-18 0,18 0,-18 0,18 0,-35 0,-1 0,18 0,-17 0,-18 0,0 0,0 0,-1 0,1 0,0 0,0-18,35 0,18 1,-18-1,36 0,-18-17,0 17,17-17,1 18,-1-1,0 0,-17 1,18 17,-18 0,-36 0,1 0,-18 0,0 0,17 0,-17 0,-18 0,18 0,-17 0,-19 0,1 0,17 0,-35 0,18 0,-18 0</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31:22.256"/>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14,'0'0,"0"0,0 0,36 0,-1 0,-17 0,17 0,0 0,0 0,18 0,18 0,-18 0,17 0,1 0,-1 0,36 0,-35 0,17 0,18 0,-36 0,1 0,17 0,0 0,1 14,-19-14,-17 14,35 0,-17-1,17-13,-17 14,34 1,1-2,-35 1,35-1,-1 2,-16-1,17-14,-18 0,18 0,17 0,-35 0,17 0,19 0,-36 0,18 0,-36 0,1 0,17 0,-18 0,19 0,-1 0,-18 0,1 0,-1 0,1 0,17 0,-17 0,-1 0,19-14,-19-1,36 2,0-1,0 1,-36 13,1-15,35 1,-18 1,0 13,18 0,-18 0,18 0,-36 0,-17 0,-17 0,-1 0,18 0,-36 0,1 0,17 0,-35 0</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32:16.654"/>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97,'0'0,"0"0,18 0,-1 0,1 0,0-10,-1 10,19-9,-19 9,-17-9,36 9,-19 0,1 0,35-10,-18 10,0 0,1 0,17 0,-1 0,1 0,36 0,-19 0,18 0,0 0,1 0,16 0,-16 0,17 0,-36 0,36 0,-36 0,1 0,0 0,-1 0,-17 0,35 0,-17 0,-18 0,17 0,18 0,18 0,0 0,0 0,17 0,1 0,-18 0,-18 0,18 0,-18 0,18 0,17 0,-35 0,36 0,-1 0,1 0,-1 0,1 0,-1 0,1 0,-1 0,1 0,16 0,-17 10,1-1,-1 0,-17 1,0 8,-18-8,18-1,0 0,-36 1,36-10,-35 0,-1 0,-17 0,0 0,18 0,17 0,-18 0,1 0,0 0,17 0,-18 0,1 0,-1 0,19 0,-19 0,1 0,35 0,-36 0,1 0,-1 0,1 0,35 0,-1 0,-34 0,17 0,0 0,-17 0,-18 0,17 0,1 0,35 0,-18 0,18 0,0 0,-18 0,-18 0,-17 0,-17 0,-1 0,0 0,-17 0,35 0,-36 0,19 0,-19 0,19 0,-19 0,1 0,17 0,0 0,-17 0,17-10,18 10,-18-9,-17 9,17 0,-17 0,-18 0,18 0</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36:34.976"/>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91,'18'0,"0"0,17 0,0 0,18 0,0 0,35 0,18 0,35 0,0 0,36 0,-19 0,19 0,-36 0,0 0,18 0,-18 0,-18 0,1 0,-18 0,17 0,-17 0,-18 0,0 0,-17 0,0 0,-1 0,18 0,-17 0,-1 0,1 0,-1 0,19 0,-19 0,1 0,-18 0,17 0,-17 0,0 0,18 0,-1 0,1 0,-1 0,1 0,-1 0,19 0,-19 0,1 0,35 0,-18 0,18 0,-18 0,-18 0,19 0,-19 0,1 0,-1 0,18 0,-17 0,0 0,-1 0,1 0,-1 0,1 0,-1 0,1 0,-1 0,1 0,17 0,-17 0,-1 0,0 0,18 0,-35 0,17 0,-17 0,0 0,18 0,-1 0,-17 0,18 0,17 0,-17 0,-1 0,36 0,-18 0,18 0,18 0,-19 0,19 0,-1 0,18 0,18 0,-18 0,-17 0,-36 0,18 0,-18 0,18 0,0 0,-1 0,19 0,35 0,-1 0,36 0,0 0,1 0,16 0,-17 0,0 0,0 0,-35 0,-18 0,-35 0,-18 0,0 0,-35 0,0 0,-18 8,18-1,18 0,0 1,34-1,-34-7,17 8,-17-1,-18 1,-1-8,-34 0,0 7,17-7</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36:34.976"/>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0 120,'23'0,"1"0,21 0,1 0,22 0,1 0,45 0,24 0,45 0,0 0,46 0,-23 0,23 0,-46 0,0 0,23 0,-23 0,-23 0,1 0,-23 0,21 0,-21 0,-24 0,0 0,-22 0,0 0,-1 0,23 0,-21 0,-3 0,2 0,-1 0,25 0,-25 0,1 0,-23 0,21 0,-21 0,0 0,23 0,-1 0,1 0,-1 0,1 0,-1 0,24 0,-24 0,1 0,46 0,-24 0,24 0,-24 0,-23 0,24 0,-24 0,1 0,-1 0,23 0,-22 0,0 0,-1 0,1 0,-1 0,1 0,-1 0,1 0,-1 0,1 0,22 0,-21 0,-3 0,3 0,21 0,-45 0,21 0,-21 0,0 0,23 0,-1 0,-22 0,23 0,22 0,-22 0,-1 0,47 0,-24 0,23 0,24 0,-25 0,25 0,-1 0,23 0,23 0,-23 0,-22 0,-47 0,24 0,-24 0,24 0,-1 0,-1 0,25 0,46 0,-2 0,46 0,1 0,1 0,21 0,-22 0,0 0,-1 0,-44 0,-24 0,-46 0,-23 0,1 0,-47 0,1 0,-23 9,22 1,24 0,1-1,43 1,-44-10,22 10,-22 0,-23 0,-1-10,-45 0,0 9,23-9</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38:40.790"/>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21,'18'0,"17"0,1 0,-1 0,-17 0,-1 0,18 0,-17 0,17 0,1 0,-1 0,35 0,1 0,0 0,-1 0,1 0,17 0,-18 0,1 0,0 0,17 0,0 0,18 0,-18 0,18 0,-18 0,18 0,-36 0,1 0,-18 0,17 0,-17 0,-17 0,-1 0,0 0,0 0,18 0,-35 0,17 0,18 0,-17 0,-1 0,18 0,-18 0,0 0,18 0,-18 0,18 0,0 0,0 0,18 0,-18 0,0 0,17 0,18 9,18 0,0 0,17 0,19 0,16 0,-17 0,36 0,-18-9,17 0,-35 0,0 0,0 0,36 0,-36 0,-1 0,19 0,-18 0,18 0,-1 0,1 0,17 0,-17 0,18 0,-36 0,35 0,-17 0,17 0,18 0,-17 0,17 0,-18 0,-17 0,17 0,1 0,-36 0,0 0,0 0,0 0,35 0,-35 0,1 0,-19 0,1 0,-19-9,1 0,-35 9,-18-9,17 0,-17 0,0 9,0-9,-18 9,-17 0</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41:00.848"/>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0 496,'17'0,"-17"0,18 0,-18 0,18 0,-1 0,-17 0,35 0,1 0,-1 0,-17 0,35 0,17 0,1 0,35 0,-18 0,35 0,1 0,-19 0,-16 0,34 0,-17 0,17 0,1 0,-36 0,18 0,-18 0,18 0,0 0,-18 0,18 0,-36 0,19 0,16 0,19 0,-1 17,1-17,-1 0,1 0,-36 0,18 0,-18 0,18 0,-18 0,18 0,-18 0,18 0,0 0,0 0,17 0,1 0,-1 0,18 0,-17 0,-1 0,1 0,-1 0,0 0,-34 0,34 0,1 0,-19 0,-16 0,16 0,-16 0,16 0,-34 0,0 0,34 0,19 0,-36 0,18 0,-18 0,18 0,-35 0,-1 0,18 0,-17 0,17 0,18 0,0 0,-36 0,1 0,35 0,-18 0,18 0,-18 0,-18 0,19 0,-19 0,1 0,-18 0,17-17,1 17,-18-18,0 18,-1 0,19 0,-18 0,0 0,0 0,0 0,17 0,-17 0,0-18,-18 18,18 0,18 0,-1 0,19 0,-36 0,17 0,-17 0,0 0,-18 0,0 0,-17 0,17 0,-17-17,17 17,-35 0,18 0,-18 0,18 0,-18 0,17 0,18 0,-17 17,35-17,-53 0,18 0,17 0,0 18,-17-18,17 0,-17 18,-1-18,19 0,17 0,0 0,-1 0,19 0,0 0,34 0,-16 0,34 0,1 0,-1 0,0 0,1 0,-36 0,18 0,17 0,-34 0,17 0,-1-18,-16 0,16 1,1-1,-35 1,35-1,-1 0,-34-17,35 17,0 18,-1-17,-16-1,17-17,-1 17,1 1,0-1,-18-17,18 17,0 0,-36 1,19-1,-19 0,18 1,-17-1,-18 18,17-18,-17 1,0 17,18 0,-18 0,0 0,0 0,-1 0,-16 0,-1 0,18 0,-18 0,-17 0,17 0,-17 0,-1 0,19 0,-19 17</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41:05.075"/>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21,'0'0,"0"0,17 0,1 0,-18 0,18 0,17 14,-17-14,17 0,18 14,35-14,0 0,18 0,53 0,35 0,0 0,17 0,19 0,-71 0,35 0,-36 0,19 0,-36 0,-18 0,1 0,-1 0,-35 0,1 0,-19 0,-17 0,18 0,-1 0,18 0,1 0,34 0,-17 0,-18 0,36 0,-19 0,-16 0,16 0,-16 0,16 0,19 0,-1 14,1-1,-1 16,1-16,17 1,18 1,-36-2,18 1,0 0,-17 0,-1-14,1 0,-1 0,1 0,-1 0,18 0,-17 0,-1 0,18 0,1 0,16 0,-17 0,18 0,0 0,-18 0,0 0,-17 0,-1 0,-35 0,0 0,-17-14,0 14,17-14,-35 14,0-14,-1 14,-16 0,17-13,-18 13,-17 0,17-15,-18 15,1 0,0 0,17 0,-17 0,-1 0,36 0,-17 0,-19 0,18 0,18 0,0 0,-17 15,-1-15,-18 0,1 0</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41:48.865"/>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0 265,'0'-18,"18"18,-18 0,35 0,-35 0,18 18,-18-18,17 17,1 1,-18 0,18-1,-1 1,-17 0,18-1,-18 18,53-35,-18 0,18-35,35 18,-17-19,34 1,1 0,-17-18,16 18,-16-1,-19 1,1 0,-18 35,-18-18,0 0,0 1,-17 17,0-18,-1 18,1 0</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43:00.266"/>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0,'0'0,"0"0,36 0,-1 0,0 0,18 0,18 0,17 0,-18 0,1 0,17 18,-17-18,17 0,18 0,-1 0,-16 0,-19 0,36 0,-18 0,0 0,1 18,-1-1,-18 1,1-18,35 0,0 0,-1 0,19 0,35 0,-18 0,-18 0,18 0,-17 0,-1 0,-35 0,-17 0,0 0,-18 0,-18 0,-18 0</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41:28.085"/>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0 423,'0'0,"17"0,19 0,-1 0,18 0,17 0,-17 0,18 0,-1 0,19 0,-1 0,35 0,36 0,0 0,17 0,-17 0,17 0,-17 0,-18 0,18 0,-18 0,-18 0,1 0,-1 0,-17 0,18 0,-1 0,1 0,17 0,-18 0,18 0,-17 0,52-17,1 17,-1 0,53 0,-35 0,-17 0,17 0,-18 0,-17 0,0 0,-18 0,0 0,-18 0,18 0,-17-18,-1 0,1 1,-1-1,1 1,-1-1,18-17,-17 17,-36 0,18 1,0 17,17 0,-35 0,18-18,0 0,-18 1,18 17,0-18,-36 1,-17-1,18 0,-18 1,-18 17,18 0,0-18,-18 0,18 18,-18-17,1 17,-1 0,-17 0,-1 0,1-18,-18 18</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43:02.060"/>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53,'17'0,"19"0,-1 0,36 0,-1 0,54 0,52 0,18 0,-18 0,18 0,0 0,1 0,-1 0,-36 0,19 0,-36 0,0 0,-18 0,1 0,-18 0,0-9,-18 9,18 0,-18 0,18 0,-18 0,18 0,-36 0,1 0,17 0,-18 0,1 0,0 0,-1 0,-17 0,18 0,-18 0,17 0,-17 0,18-9,-1 0,36 9,0 0,-18 0,18 0,17 0,-17 0,0 0,0 0,-18 0,18 0,-18 0,18 0,17 0,18 0,0 0,36 0,17 0,18 0,-1 0,1 0,0 0,17 0,-17 0,-18 0,0 0,-36 0,-17 0,-17 0,-18 0,-18 0,0 0,0 0,-17 0,-18 0,17 0,1 0,0 0,-1 0,1 0,34 0,-16 0,-19 0,18 0,-17 0,-18 0,0 0,0 0,0 0,0 0,-1 0,1 0,0 0,0 0,-18 0,1 0,-19 0,19 0,-36 0,17 0</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43:18.768"/>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0 141,'17'0,"-17"0,35 0,1 0,-1 0,18 0,-18-18,18 0,0 1,18 17,-1 0,1-18,-1 18,36 0,0 0,0 0,53 0,-18 0,0 0,-18 0,1 0,-1 0,1 0,-1 0,-35 0,18-18,-18 18,1 0,-1 0,18 0,17 0,18 0,0 0,-17 0,17 18,18-18,-36 0,-35 0,18 0,-35 0,-18 0,-18 0,0-18,18 1,-35 17,17-18,-17 18,-1-17,-17 17,0 0</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43:20.530"/>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64,'0'0,"35"0,0 0,1 0,-1 0,18 0,35 0,18-17,17 17,18 0,1 0,16 0,-17 0,-17 0,-1 0,1 0,-36 0,18 0,-18 0,-17 0,17 0,-35 0,0 0,17 0,1 0,-1 0,36 0,-18 0,18 0,-18 0,1 0,-19 0,1 0,-1 0,-17 0,18 0,-1 0,1 0,-1 0,1 0,-1 0,19 0,-19 0,1 0,-1 0,36 0,0 0,-18 0,36 17,-1 1,1-18,-19 0,19 0,-1 18,-34-1,52 1,-53-18,18 0,-18 17,35-17,1 0,-1 0,1 0,-36 0,18 0,17 0,1 0,-1 18,1-18,-36 0,18 0,-18 0,0 0,-35 0,0 0,-18 0,-17 0,17 0</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9-06T09:43:28.096"/>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0 371,'18'-18,"-1"18,-17 18,18 0,0-1,-18-17,17 18,-17-18,18 17,0-17,-18 36,17-19,-17 1,18-18,-1 18,19-18,-1 0,18-18,35-35,18 0,17 0,19-35,-37 17,-16 19,-36 16,17 1,-35 0,-17 17,17 0,-35 18,18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55343-3117-4DAC-B2F1-156EC4B236C7}" type="datetimeFigureOut">
              <a:rPr lang="en-IN" smtClean="0"/>
              <a:t>06-02-2024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D28CA3-C95E-4EFC-9131-DE80E4D26838}" type="slidenum">
              <a:rPr lang="en-IN" smtClean="0"/>
              <a:t>‹#›</a:t>
            </a:fld>
            <a:endParaRPr lang="en-IN"/>
          </a:p>
        </p:txBody>
      </p:sp>
    </p:spTree>
    <p:extLst>
      <p:ext uri="{BB962C8B-B14F-4D97-AF65-F5344CB8AC3E}">
        <p14:creationId xmlns:p14="http://schemas.microsoft.com/office/powerpoint/2010/main" val="1174625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7CE256D-A9FC-4AB8-8065-BE872E69F253}"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CE256D-A9FC-4AB8-8065-BE872E69F253}"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CE256D-A9FC-4AB8-8065-BE872E69F253}"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CE256D-A9FC-4AB8-8065-BE872E69F253}" type="datetimeFigureOut">
              <a:rPr lang="en-US" smtClean="0"/>
              <a:pPr/>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CE256D-A9FC-4AB8-8065-BE872E69F253}" type="datetimeFigureOut">
              <a:rPr lang="en-US" smtClean="0"/>
              <a:pPr/>
              <a:t>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CE256D-A9FC-4AB8-8065-BE872E69F253}" type="datetimeFigureOut">
              <a:rPr lang="en-US" smtClean="0"/>
              <a:pPr/>
              <a:t>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CE256D-A9FC-4AB8-8065-BE872E69F253}" type="datetimeFigureOut">
              <a:rPr lang="en-US" smtClean="0"/>
              <a:pPr/>
              <a:t>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CE256D-A9FC-4AB8-8065-BE872E69F253}" type="datetimeFigureOut">
              <a:rPr lang="en-US" smtClean="0"/>
              <a:pPr/>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CE256D-A9FC-4AB8-8065-BE872E69F253}" type="datetimeFigureOut">
              <a:rPr lang="en-US" smtClean="0"/>
              <a:pPr/>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CE256D-A9FC-4AB8-8065-BE872E69F253}"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CE256D-A9FC-4AB8-8065-BE872E69F253}"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EA6ED-875B-45B1-9B32-585F5B5C2B1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E256D-A9FC-4AB8-8065-BE872E69F253}" type="datetimeFigureOut">
              <a:rPr lang="en-US" smtClean="0"/>
              <a:pPr/>
              <a:t>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4EA6ED-875B-45B1-9B32-585F5B5C2B1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customXml" Target="../ink/ink4.xml"/><Relationship Id="rId1" Type="http://schemas.openxmlformats.org/officeDocument/2006/relationships/slideLayout" Target="../slideLayouts/slideLayout1.xml"/><Relationship Id="rId6" Type="http://schemas.openxmlformats.org/officeDocument/2006/relationships/customXml" Target="../ink/ink6.xml"/><Relationship Id="rId5" Type="http://schemas.openxmlformats.org/officeDocument/2006/relationships/image" Target="../media/image5.png"/><Relationship Id="rId10" Type="http://schemas.openxmlformats.org/officeDocument/2006/relationships/customXml" Target="../ink/ink8.xml"/><Relationship Id="rId4" Type="http://schemas.openxmlformats.org/officeDocument/2006/relationships/customXml" Target="../ink/ink5.xml"/><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ustomXml" Target="../ink/ink9.xml"/><Relationship Id="rId7" Type="http://schemas.openxmlformats.org/officeDocument/2006/relationships/customXml" Target="../ink/ink11.xml"/><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customXml" Target="../ink/ink10.xm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customXml" Target="../ink/ink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customXml" Target="../ink/ink1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customXml" Target="../ink/ink1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customXml" Target="../ink/ink17.xml"/><Relationship Id="rId1" Type="http://schemas.openxmlformats.org/officeDocument/2006/relationships/slideLayout" Target="../slideLayouts/slideLayout1.xml"/><Relationship Id="rId6" Type="http://schemas.openxmlformats.org/officeDocument/2006/relationships/customXml" Target="../ink/ink19.xml"/><Relationship Id="rId5" Type="http://schemas.openxmlformats.org/officeDocument/2006/relationships/image" Target="../media/image18.png"/><Relationship Id="rId4" Type="http://schemas.openxmlformats.org/officeDocument/2006/relationships/customXml" Target="../ink/ink18.xml"/></Relationships>
</file>

<file path=ppt/slides/_rels/slide9.xml.rels><?xml version="1.0" encoding="UTF-8" standalone="yes"?>
<Relationships xmlns="http://schemas.openxmlformats.org/package/2006/relationships"><Relationship Id="rId8" Type="http://schemas.openxmlformats.org/officeDocument/2006/relationships/customXml" Target="../ink/ink23.xml"/><Relationship Id="rId13"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2.png"/><Relationship Id="rId12" Type="http://schemas.openxmlformats.org/officeDocument/2006/relationships/customXml" Target="../ink/ink25.xml"/><Relationship Id="rId2" Type="http://schemas.openxmlformats.org/officeDocument/2006/relationships/customXml" Target="../ink/ink20.xml"/><Relationship Id="rId1" Type="http://schemas.openxmlformats.org/officeDocument/2006/relationships/slideLayout" Target="../slideLayouts/slideLayout1.xml"/><Relationship Id="rId6" Type="http://schemas.openxmlformats.org/officeDocument/2006/relationships/customXml" Target="../ink/ink22.xml"/><Relationship Id="rId11" Type="http://schemas.openxmlformats.org/officeDocument/2006/relationships/image" Target="../media/image24.png"/><Relationship Id="rId5" Type="http://schemas.openxmlformats.org/officeDocument/2006/relationships/image" Target="../media/image21.png"/><Relationship Id="rId10" Type="http://schemas.openxmlformats.org/officeDocument/2006/relationships/customXml" Target="../ink/ink24.xml"/><Relationship Id="rId4" Type="http://schemas.openxmlformats.org/officeDocument/2006/relationships/customXml" Target="../ink/ink21.xml"/><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Cache Coherence Issues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
            <a:ext cx="7772400" cy="381000"/>
          </a:xfrm>
        </p:spPr>
        <p:txBody>
          <a:bodyPr>
            <a:normAutofit fontScale="90000"/>
          </a:bodyPr>
          <a:lstStyle/>
          <a:p>
            <a:r>
              <a:rPr lang="en-US" sz="3200" b="1" dirty="0"/>
              <a:t>Centralized Shared-Memory Architectures</a:t>
            </a:r>
            <a:endParaRPr lang="en-US" sz="3200" dirty="0"/>
          </a:p>
        </p:txBody>
      </p:sp>
      <p:sp>
        <p:nvSpPr>
          <p:cNvPr id="3" name="Subtitle 2"/>
          <p:cNvSpPr>
            <a:spLocks noGrp="1"/>
          </p:cNvSpPr>
          <p:nvPr>
            <p:ph type="subTitle" idx="1"/>
          </p:nvPr>
        </p:nvSpPr>
        <p:spPr>
          <a:xfrm>
            <a:off x="228600" y="457200"/>
            <a:ext cx="8686800" cy="6248400"/>
          </a:xfrm>
        </p:spPr>
        <p:txBody>
          <a:bodyPr>
            <a:noAutofit/>
          </a:bodyPr>
          <a:lstStyle/>
          <a:p>
            <a:pPr marL="457200" indent="-457200" algn="just">
              <a:buFont typeface="Arial" pitchFamily="34" charset="0"/>
              <a:buChar char="•"/>
            </a:pPr>
            <a:r>
              <a:rPr lang="en-US" sz="2400" dirty="0">
                <a:solidFill>
                  <a:schemeClr val="tx1"/>
                </a:solidFill>
              </a:rPr>
              <a:t>The observation that the use of large, multilevel caches can substantially reduce the memory bandwidth is the key insight that motivates centralized memory multiprocessors. </a:t>
            </a:r>
          </a:p>
          <a:p>
            <a:pPr marL="457200" indent="-457200" algn="just">
              <a:buFont typeface="Arial" pitchFamily="34" charset="0"/>
              <a:buChar char="•"/>
            </a:pPr>
            <a:r>
              <a:rPr lang="en-US" sz="2400" dirty="0">
                <a:solidFill>
                  <a:schemeClr val="tx1"/>
                </a:solidFill>
              </a:rPr>
              <a:t>Symmetric shared-memory machines usually support the caching of both shared and private data. </a:t>
            </a:r>
          </a:p>
          <a:p>
            <a:pPr marL="457200" indent="-457200" algn="just">
              <a:buFont typeface="Arial" pitchFamily="34" charset="0"/>
              <a:buChar char="•"/>
            </a:pPr>
            <a:r>
              <a:rPr lang="en-US" sz="2400" dirty="0">
                <a:solidFill>
                  <a:schemeClr val="tx1"/>
                </a:solidFill>
              </a:rPr>
              <a:t>Private data are used by a single processor, while shared data are used by multiple processors, essentially providing communication among the processors through reads and writes of the shared data. </a:t>
            </a:r>
          </a:p>
          <a:p>
            <a:pPr marL="457200" indent="-457200" algn="just">
              <a:buFont typeface="Arial" pitchFamily="34" charset="0"/>
              <a:buChar char="•"/>
            </a:pPr>
            <a:r>
              <a:rPr lang="en-US" sz="2400" dirty="0">
                <a:solidFill>
                  <a:schemeClr val="tx1"/>
                </a:solidFill>
              </a:rPr>
              <a:t>When a private item is cached, its location is migrated to the cache, reducing the average access time as well as the memory bandwidth required. </a:t>
            </a:r>
          </a:p>
          <a:p>
            <a:pPr marL="457200" indent="-457200" algn="just">
              <a:buFont typeface="Arial" pitchFamily="34" charset="0"/>
              <a:buChar char="•"/>
            </a:pPr>
            <a:r>
              <a:rPr lang="en-US" sz="2400" dirty="0">
                <a:solidFill>
                  <a:schemeClr val="tx1"/>
                </a:solidFill>
              </a:rPr>
              <a:t>Since no other processor uses the data, the program behavior is identical to that in a </a:t>
            </a:r>
            <a:r>
              <a:rPr lang="en-US" sz="2400" dirty="0" err="1">
                <a:solidFill>
                  <a:schemeClr val="tx1"/>
                </a:solidFill>
              </a:rPr>
              <a:t>uniprocessor</a:t>
            </a:r>
            <a:r>
              <a:rPr lang="en-US" sz="2400" dirty="0">
                <a:solidFill>
                  <a:schemeClr val="tx1"/>
                </a:solidFill>
              </a:rPr>
              <a:t>. </a:t>
            </a:r>
          </a:p>
        </p:txBody>
      </p:sp>
      <mc:AlternateContent xmlns:mc="http://schemas.openxmlformats.org/markup-compatibility/2006">
        <mc:Choice xmlns:p14="http://schemas.microsoft.com/office/powerpoint/2010/main" Requires="p14">
          <p:contentPart p14:bwMode="auto" r:id="rId2">
            <p14:nvContentPartPr>
              <p14:cNvPr id="1026" name="Ink 2"/>
              <p14:cNvContentPartPr>
                <a14:cpLocks xmlns:a14="http://schemas.microsoft.com/office/drawing/2010/main" noRot="1" noChangeAspect="1" noEditPoints="1" noChangeArrowheads="1" noChangeShapeType="1"/>
              </p14:cNvContentPartPr>
              <p14:nvPr/>
            </p14:nvContentPartPr>
            <p14:xfrm>
              <a:off x="2432050" y="828675"/>
              <a:ext cx="6483350" cy="412750"/>
            </p14:xfrm>
          </p:contentPart>
        </mc:Choice>
        <mc:Fallback>
          <p:pic>
            <p:nvPicPr>
              <p:cNvPr id="1026" name="Ink 2"/>
              <p:cNvPicPr>
                <a:picLocks noRot="1" noChangeAspect="1" noEditPoints="1" noChangeArrowheads="1" noChangeShapeType="1"/>
              </p:cNvPicPr>
              <p:nvPr/>
            </p:nvPicPr>
            <p:blipFill>
              <a:blip r:embed="rId3"/>
              <a:stretch>
                <a:fillRect/>
              </a:stretch>
            </p:blipFill>
            <p:spPr>
              <a:xfrm>
                <a:off x="2422690" y="819448"/>
                <a:ext cx="6502069" cy="431205"/>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030" name="Ink 6"/>
              <p14:cNvContentPartPr>
                <a14:cpLocks xmlns:a14="http://schemas.microsoft.com/office/drawing/2010/main" noRot="1" noChangeAspect="1" noEditPoints="1" noChangeArrowheads="1" noChangeShapeType="1"/>
              </p14:cNvContentPartPr>
              <p14:nvPr/>
            </p14:nvContentPartPr>
            <p14:xfrm>
              <a:off x="856796" y="2847975"/>
              <a:ext cx="4991100" cy="57150"/>
            </p14:xfrm>
          </p:contentPart>
        </mc:Choice>
        <mc:Fallback>
          <p:pic>
            <p:nvPicPr>
              <p:cNvPr id="1030" name="Ink 6"/>
              <p:cNvPicPr>
                <a:picLocks noRot="1" noChangeAspect="1" noEditPoints="1" noChangeArrowheads="1" noChangeShapeType="1"/>
              </p:cNvPicPr>
              <p:nvPr/>
            </p:nvPicPr>
            <p:blipFill>
              <a:blip r:embed="rId5"/>
              <a:stretch>
                <a:fillRect/>
              </a:stretch>
            </p:blipFill>
            <p:spPr>
              <a:xfrm>
                <a:off x="847437" y="2843055"/>
                <a:ext cx="5009819" cy="6699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31" name="Ink 7"/>
              <p14:cNvContentPartPr>
                <a14:cpLocks xmlns:a14="http://schemas.microsoft.com/office/drawing/2010/main" noRot="1" noChangeAspect="1" noEditPoints="1" noChangeArrowheads="1" noChangeShapeType="1"/>
              </p14:cNvContentPartPr>
              <p14:nvPr/>
            </p14:nvContentPartPr>
            <p14:xfrm>
              <a:off x="1828800" y="4729162"/>
              <a:ext cx="2743200" cy="50800"/>
            </p14:xfrm>
          </p:contentPart>
        </mc:Choice>
        <mc:Fallback>
          <p:pic>
            <p:nvPicPr>
              <p:cNvPr id="1031" name="Ink 7"/>
              <p:cNvPicPr>
                <a:picLocks noRot="1" noChangeAspect="1" noEditPoints="1" noChangeArrowheads="1" noChangeShapeType="1"/>
              </p:cNvPicPr>
              <p:nvPr/>
            </p:nvPicPr>
            <p:blipFill>
              <a:blip r:embed="rId7"/>
              <a:stretch>
                <a:fillRect/>
              </a:stretch>
            </p:blipFill>
            <p:spPr>
              <a:xfrm>
                <a:off x="1819441" y="4720907"/>
                <a:ext cx="2761918" cy="6731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
            <a:ext cx="7772400" cy="381000"/>
          </a:xfrm>
        </p:spPr>
        <p:txBody>
          <a:bodyPr>
            <a:normAutofit fontScale="90000"/>
          </a:bodyPr>
          <a:lstStyle/>
          <a:p>
            <a:r>
              <a:rPr lang="en-US" sz="3200" b="1" dirty="0"/>
              <a:t>Centralized Shared-Memory Architectures</a:t>
            </a:r>
            <a:endParaRPr lang="en-US" sz="3200" dirty="0"/>
          </a:p>
        </p:txBody>
      </p:sp>
      <p:sp>
        <p:nvSpPr>
          <p:cNvPr id="3" name="Subtitle 2"/>
          <p:cNvSpPr>
            <a:spLocks noGrp="1"/>
          </p:cNvSpPr>
          <p:nvPr>
            <p:ph type="subTitle" idx="1"/>
          </p:nvPr>
        </p:nvSpPr>
        <p:spPr>
          <a:xfrm>
            <a:off x="228600" y="457200"/>
            <a:ext cx="8686800" cy="6248400"/>
          </a:xfrm>
        </p:spPr>
        <p:txBody>
          <a:bodyPr>
            <a:noAutofit/>
          </a:bodyPr>
          <a:lstStyle/>
          <a:p>
            <a:pPr marL="457200" indent="-457200" algn="just">
              <a:buFont typeface="Arial" pitchFamily="34" charset="0"/>
              <a:buChar char="•"/>
            </a:pPr>
            <a:r>
              <a:rPr lang="en-US" sz="2400" dirty="0">
                <a:solidFill>
                  <a:schemeClr val="tx1"/>
                </a:solidFill>
              </a:rPr>
              <a:t>When shared data are cached, the shared value may be replicated in multiple caches. In addition to the reduction in access latency and required memory bandwidth, this replication also provides a reduction in contention that may exist for shared data items that are being read by multiple processors simultaneously. </a:t>
            </a:r>
          </a:p>
          <a:p>
            <a:pPr marL="457200" indent="-457200" algn="just">
              <a:buFont typeface="Arial" pitchFamily="34" charset="0"/>
              <a:buChar char="•"/>
            </a:pPr>
            <a:r>
              <a:rPr lang="en-US" sz="2400" dirty="0">
                <a:solidFill>
                  <a:schemeClr val="tx1"/>
                </a:solidFill>
              </a:rPr>
              <a:t>Caching of shared data, however, introduces a new problem: cache coherence.</a:t>
            </a:r>
          </a:p>
          <a:p>
            <a:pPr marL="457200" indent="-457200" algn="just"/>
            <a:r>
              <a:rPr lang="en-US" sz="2400" b="1" dirty="0">
                <a:solidFill>
                  <a:schemeClr val="tx1"/>
                </a:solidFill>
              </a:rPr>
              <a:t>What Is Multiprocessor Cache Coherence?</a:t>
            </a:r>
          </a:p>
          <a:p>
            <a:pPr marL="457200" indent="-457200" algn="just">
              <a:buFont typeface="Arial" pitchFamily="34" charset="0"/>
              <a:buChar char="•"/>
            </a:pPr>
            <a:r>
              <a:rPr lang="en-US" sz="2400" dirty="0">
                <a:solidFill>
                  <a:schemeClr val="tx1"/>
                </a:solidFill>
              </a:rPr>
              <a:t>The view of memory held by two different processors is through their individual caches, which, without any additional precautions, could end up seeing two different values. </a:t>
            </a:r>
          </a:p>
          <a:p>
            <a:pPr marL="457200" indent="-457200" algn="just">
              <a:buFont typeface="Arial" pitchFamily="34" charset="0"/>
              <a:buChar char="•"/>
            </a:pPr>
            <a:r>
              <a:rPr lang="en-US" sz="2400" dirty="0">
                <a:solidFill>
                  <a:schemeClr val="tx1"/>
                </a:solidFill>
              </a:rPr>
              <a:t>Two different processors can have two different values for the same location. This difficulty is generally referred to as the cache coherence problem. </a:t>
            </a:r>
          </a:p>
        </p:txBody>
      </p:sp>
      <mc:AlternateContent xmlns:mc="http://schemas.openxmlformats.org/markup-compatibility/2006" xmlns:p14="http://schemas.microsoft.com/office/powerpoint/2010/main">
        <mc:Choice Requires="p14">
          <p:contentPart p14:bwMode="auto" r:id="rId2">
            <p14:nvContentPartPr>
              <p14:cNvPr id="2053" name="Ink 5"/>
              <p14:cNvContentPartPr>
                <a14:cpLocks xmlns:a14="http://schemas.microsoft.com/office/drawing/2010/main" noRot="1" noChangeAspect="1" noEditPoints="1" noChangeArrowheads="1" noChangeShapeType="1"/>
              </p14:cNvContentPartPr>
              <p14:nvPr/>
            </p14:nvContentPartPr>
            <p14:xfrm>
              <a:off x="590550" y="3155950"/>
              <a:ext cx="2343150" cy="374650"/>
            </p14:xfrm>
          </p:contentPart>
        </mc:Choice>
        <mc:Fallback xmlns="">
          <p:pic>
            <p:nvPicPr>
              <p:cNvPr id="2053" name="Ink 5"/>
              <p:cNvPicPr>
                <a:picLocks noRot="1" noChangeAspect="1" noEditPoints="1" noChangeArrowheads="1" noChangeShapeType="1"/>
              </p:cNvPicPr>
              <p:nvPr/>
            </p:nvPicPr>
            <p:blipFill>
              <a:blip r:embed="rId3"/>
              <a:stretch>
                <a:fillRect/>
              </a:stretch>
            </p:blipFill>
            <p:spPr>
              <a:xfrm>
                <a:off x="581225" y="3148409"/>
                <a:ext cx="2361801" cy="39033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054" name="Ink 6"/>
              <p14:cNvContentPartPr>
                <a14:cpLocks xmlns:a14="http://schemas.microsoft.com/office/drawing/2010/main" noRot="1" noChangeAspect="1" noEditPoints="1" noChangeArrowheads="1" noChangeShapeType="1"/>
              </p14:cNvContentPartPr>
              <p14:nvPr/>
            </p14:nvContentPartPr>
            <p14:xfrm>
              <a:off x="5410200" y="3124200"/>
              <a:ext cx="3422650" cy="82550"/>
            </p14:xfrm>
          </p:contentPart>
        </mc:Choice>
        <mc:Fallback xmlns="">
          <p:pic>
            <p:nvPicPr>
              <p:cNvPr id="2054" name="Ink 6"/>
              <p:cNvPicPr>
                <a:picLocks noRot="1" noChangeAspect="1" noEditPoints="1" noChangeArrowheads="1" noChangeShapeType="1"/>
              </p:cNvPicPr>
              <p:nvPr/>
            </p:nvPicPr>
            <p:blipFill>
              <a:blip r:embed="rId5"/>
              <a:stretch>
                <a:fillRect/>
              </a:stretch>
            </p:blipFill>
            <p:spPr>
              <a:xfrm>
                <a:off x="5400841" y="3116589"/>
                <a:ext cx="3441369" cy="9777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55" name="Ink 7"/>
              <p14:cNvContentPartPr>
                <a14:cpLocks xmlns:a14="http://schemas.microsoft.com/office/drawing/2010/main" noRot="1" noChangeAspect="1" noEditPoints="1" noChangeArrowheads="1" noChangeShapeType="1"/>
              </p14:cNvContentPartPr>
              <p14:nvPr/>
            </p14:nvContentPartPr>
            <p14:xfrm>
              <a:off x="7632700" y="5835650"/>
              <a:ext cx="1250950" cy="63500"/>
            </p14:xfrm>
          </p:contentPart>
        </mc:Choice>
        <mc:Fallback xmlns="">
          <p:pic>
            <p:nvPicPr>
              <p:cNvPr id="2055" name="Ink 7"/>
              <p:cNvPicPr>
                <a:picLocks noRot="1" noChangeAspect="1" noEditPoints="1" noChangeArrowheads="1" noChangeShapeType="1"/>
              </p:cNvPicPr>
              <p:nvPr/>
            </p:nvPicPr>
            <p:blipFill>
              <a:blip r:embed="rId7"/>
              <a:stretch>
                <a:fillRect/>
              </a:stretch>
            </p:blipFill>
            <p:spPr>
              <a:xfrm>
                <a:off x="7623343" y="5826375"/>
                <a:ext cx="1269664" cy="8205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56" name="Ink 8"/>
              <p14:cNvContentPartPr>
                <a14:cpLocks xmlns:a14="http://schemas.microsoft.com/office/drawing/2010/main" noRot="1" noChangeAspect="1" noEditPoints="1" noChangeArrowheads="1" noChangeShapeType="1"/>
              </p14:cNvContentPartPr>
              <p14:nvPr/>
            </p14:nvContentPartPr>
            <p14:xfrm>
              <a:off x="774700" y="6261100"/>
              <a:ext cx="2451100" cy="31750"/>
            </p14:xfrm>
          </p:contentPart>
        </mc:Choice>
        <mc:Fallback xmlns="">
          <p:pic>
            <p:nvPicPr>
              <p:cNvPr id="2056" name="Ink 8"/>
              <p:cNvPicPr>
                <a:picLocks noRot="1" noChangeAspect="1" noEditPoints="1" noChangeArrowheads="1" noChangeShapeType="1"/>
              </p:cNvPicPr>
              <p:nvPr/>
            </p:nvPicPr>
            <p:blipFill>
              <a:blip r:embed="rId9"/>
              <a:stretch>
                <a:fillRect/>
              </a:stretch>
            </p:blipFill>
            <p:spPr>
              <a:xfrm>
                <a:off x="765342" y="6253238"/>
                <a:ext cx="2469816" cy="4747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57" name="Ink 9"/>
              <p14:cNvContentPartPr>
                <a14:cpLocks xmlns:a14="http://schemas.microsoft.com/office/drawing/2010/main" noRot="1" noChangeAspect="1" noEditPoints="1" noChangeArrowheads="1" noChangeShapeType="1"/>
              </p14:cNvContentPartPr>
              <p14:nvPr/>
            </p14:nvContentPartPr>
            <p14:xfrm>
              <a:off x="1752600" y="838200"/>
              <a:ext cx="3422650" cy="82550"/>
            </p14:xfrm>
          </p:contentPart>
        </mc:Choice>
        <mc:Fallback xmlns="">
          <p:pic>
            <p:nvPicPr>
              <p:cNvPr id="2057" name="Ink 9"/>
              <p:cNvPicPr>
                <a:picLocks noRot="1" noChangeAspect="1" noEditPoints="1" noChangeArrowheads="1" noChangeShapeType="1"/>
              </p:cNvPicPr>
              <p:nvPr/>
            </p:nvPicPr>
            <p:blipFill>
              <a:blip r:embed="rId5"/>
              <a:stretch>
                <a:fillRect/>
              </a:stretch>
            </p:blipFill>
            <p:spPr>
              <a:xfrm>
                <a:off x="1743241" y="830589"/>
                <a:ext cx="3441369" cy="97772"/>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457200"/>
            <a:ext cx="8686800" cy="6248400"/>
          </a:xfrm>
        </p:spPr>
        <p:txBody>
          <a:bodyPr>
            <a:noAutofit/>
          </a:bodyPr>
          <a:lstStyle/>
          <a:p>
            <a:pPr marL="457200" indent="-457200" algn="just"/>
            <a:r>
              <a:rPr lang="en-US" sz="2200" b="1" dirty="0">
                <a:solidFill>
                  <a:schemeClr val="tx1"/>
                </a:solidFill>
              </a:rPr>
              <a:t>Multiprocessor Cache Coherence</a:t>
            </a:r>
          </a:p>
          <a:p>
            <a:pPr marL="457200" indent="-457200" algn="just">
              <a:buFont typeface="Arial" pitchFamily="34" charset="0"/>
              <a:buChar char="•"/>
            </a:pPr>
            <a:r>
              <a:rPr lang="en-US" sz="2200" dirty="0">
                <a:solidFill>
                  <a:schemeClr val="tx1"/>
                </a:solidFill>
              </a:rPr>
              <a:t>Informally, we could say that a memory system is coherent if any read of a data item returns the most recently written value of that data item. </a:t>
            </a:r>
          </a:p>
          <a:p>
            <a:pPr marL="457200" indent="-457200" algn="just">
              <a:buFont typeface="Arial" pitchFamily="34" charset="0"/>
              <a:buChar char="•"/>
            </a:pPr>
            <a:r>
              <a:rPr lang="en-US" sz="2200" dirty="0">
                <a:solidFill>
                  <a:schemeClr val="tx1"/>
                </a:solidFill>
              </a:rPr>
              <a:t>This simple definition contains two different aspects of memory system behavior, both of which are critical to writing correct shared-memory programs.</a:t>
            </a:r>
          </a:p>
          <a:p>
            <a:pPr marL="457200" indent="-457200" algn="just">
              <a:buFont typeface="Arial" pitchFamily="34" charset="0"/>
              <a:buChar char="•"/>
            </a:pPr>
            <a:r>
              <a:rPr lang="en-US" sz="2200" dirty="0">
                <a:solidFill>
                  <a:schemeClr val="tx1"/>
                </a:solidFill>
              </a:rPr>
              <a:t>The first aspect, called coherence, defines what values can be returned by a read. </a:t>
            </a:r>
          </a:p>
          <a:p>
            <a:pPr marL="457200" indent="-457200" algn="just">
              <a:buFont typeface="Arial" pitchFamily="34" charset="0"/>
              <a:buChar char="•"/>
            </a:pPr>
            <a:r>
              <a:rPr lang="en-US" sz="2200" dirty="0">
                <a:solidFill>
                  <a:schemeClr val="tx1"/>
                </a:solidFill>
              </a:rPr>
              <a:t>The second aspect, called consistency, determines when a written value will be returned by a read. </a:t>
            </a:r>
          </a:p>
        </p:txBody>
      </p:sp>
      <p:pic>
        <p:nvPicPr>
          <p:cNvPr id="1026" name="Picture 2"/>
          <p:cNvPicPr>
            <a:picLocks noChangeAspect="1" noChangeArrowheads="1"/>
          </p:cNvPicPr>
          <p:nvPr/>
        </p:nvPicPr>
        <p:blipFill>
          <a:blip r:embed="rId2"/>
          <a:srcRect/>
          <a:stretch>
            <a:fillRect/>
          </a:stretch>
        </p:blipFill>
        <p:spPr bwMode="auto">
          <a:xfrm>
            <a:off x="1143000" y="4495800"/>
            <a:ext cx="6019800" cy="2362200"/>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3">
            <p14:nvContentPartPr>
              <p14:cNvPr id="3074" name="Ink 2"/>
              <p14:cNvContentPartPr>
                <a14:cpLocks xmlns:a14="http://schemas.microsoft.com/office/drawing/2010/main" noRot="1" noChangeAspect="1" noEditPoints="1" noChangeArrowheads="1" noChangeShapeType="1"/>
              </p14:cNvContentPartPr>
              <p14:nvPr/>
            </p14:nvContentPartPr>
            <p14:xfrm>
              <a:off x="4838700" y="2197100"/>
              <a:ext cx="4064000" cy="88900"/>
            </p14:xfrm>
          </p:contentPart>
        </mc:Choice>
        <mc:Fallback xmlns="">
          <p:pic>
            <p:nvPicPr>
              <p:cNvPr id="3074" name="Ink 2"/>
              <p:cNvPicPr>
                <a:picLocks noRot="1" noChangeAspect="1" noEditPoints="1" noChangeArrowheads="1" noChangeShapeType="1"/>
              </p:cNvPicPr>
              <p:nvPr/>
            </p:nvPicPr>
            <p:blipFill>
              <a:blip r:embed="rId4"/>
              <a:stretch>
                <a:fillRect/>
              </a:stretch>
            </p:blipFill>
            <p:spPr>
              <a:xfrm>
                <a:off x="4829341" y="2191421"/>
                <a:ext cx="4082718" cy="100258"/>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075" name="Ink 3"/>
              <p14:cNvContentPartPr>
                <a14:cpLocks xmlns:a14="http://schemas.microsoft.com/office/drawing/2010/main" noRot="1" noChangeAspect="1" noEditPoints="1" noChangeArrowheads="1" noChangeShapeType="1"/>
              </p14:cNvContentPartPr>
              <p14:nvPr/>
            </p14:nvContentPartPr>
            <p14:xfrm>
              <a:off x="882650" y="2635250"/>
              <a:ext cx="1866900" cy="1588"/>
            </p14:xfrm>
          </p:contentPart>
        </mc:Choice>
        <mc:Fallback xmlns="">
          <p:pic>
            <p:nvPicPr>
              <p:cNvPr id="3075" name="Ink 3"/>
              <p:cNvPicPr>
                <a:picLocks noRot="1" noChangeAspect="1" noEditPoints="1" noChangeArrowheads="1" noChangeShapeType="1"/>
              </p:cNvPicPr>
              <p:nvPr/>
            </p:nvPicPr>
            <p:blipFill>
              <a:blip r:embed="rId6"/>
              <a:stretch>
                <a:fillRect/>
              </a:stretch>
            </p:blipFill>
            <p:spPr>
              <a:xfrm>
                <a:off x="873292" y="2593962"/>
                <a:ext cx="1885616" cy="84164"/>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076" name="Ink 4"/>
              <p14:cNvContentPartPr>
                <a14:cpLocks xmlns:a14="http://schemas.microsoft.com/office/drawing/2010/main" noRot="1" noChangeAspect="1" noEditPoints="1" noChangeArrowheads="1" noChangeShapeType="1"/>
              </p14:cNvContentPartPr>
              <p14:nvPr/>
            </p14:nvContentPartPr>
            <p14:xfrm>
              <a:off x="3441700" y="3371850"/>
              <a:ext cx="1289050" cy="1588"/>
            </p14:xfrm>
          </p:contentPart>
        </mc:Choice>
        <mc:Fallback xmlns="">
          <p:pic>
            <p:nvPicPr>
              <p:cNvPr id="3076" name="Ink 4"/>
              <p:cNvPicPr>
                <a:picLocks noRot="1" noChangeAspect="1" noEditPoints="1" noChangeArrowheads="1" noChangeShapeType="1"/>
              </p:cNvPicPr>
              <p:nvPr/>
            </p:nvPicPr>
            <p:blipFill>
              <a:blip r:embed="rId8"/>
              <a:stretch>
                <a:fillRect/>
              </a:stretch>
            </p:blipFill>
            <p:spPr>
              <a:xfrm>
                <a:off x="3432343" y="3330562"/>
                <a:ext cx="1307763" cy="84164"/>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077" name="Ink 5"/>
              <p14:cNvContentPartPr>
                <a14:cpLocks xmlns:a14="http://schemas.microsoft.com/office/drawing/2010/main" noRot="1" noChangeAspect="1" noEditPoints="1" noChangeArrowheads="1" noChangeShapeType="1"/>
              </p14:cNvContentPartPr>
              <p14:nvPr/>
            </p14:nvContentPartPr>
            <p14:xfrm>
              <a:off x="4102100" y="4051300"/>
              <a:ext cx="1371600" cy="88900"/>
            </p14:xfrm>
          </p:contentPart>
        </mc:Choice>
        <mc:Fallback xmlns="">
          <p:pic>
            <p:nvPicPr>
              <p:cNvPr id="3077" name="Ink 5"/>
              <p:cNvPicPr>
                <a:picLocks noRot="1" noChangeAspect="1" noEditPoints="1" noChangeArrowheads="1" noChangeShapeType="1"/>
              </p:cNvPicPr>
              <p:nvPr/>
            </p:nvPicPr>
            <p:blipFill>
              <a:blip r:embed="rId10"/>
              <a:stretch>
                <a:fillRect/>
              </a:stretch>
            </p:blipFill>
            <p:spPr>
              <a:xfrm>
                <a:off x="4092742" y="4043465"/>
                <a:ext cx="1390315" cy="104571"/>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457200"/>
            <a:ext cx="8686800" cy="6248400"/>
          </a:xfrm>
        </p:spPr>
        <p:txBody>
          <a:bodyPr>
            <a:noAutofit/>
          </a:bodyPr>
          <a:lstStyle/>
          <a:p>
            <a:pPr marL="457200" indent="-457200" algn="just"/>
            <a:r>
              <a:rPr lang="en-US" sz="2200" b="1" dirty="0">
                <a:solidFill>
                  <a:schemeClr val="tx1"/>
                </a:solidFill>
              </a:rPr>
              <a:t>Multiprocessor Cache Coherence</a:t>
            </a:r>
          </a:p>
          <a:p>
            <a:pPr marL="457200" indent="-457200" algn="just"/>
            <a:r>
              <a:rPr lang="en-US" sz="2200" dirty="0">
                <a:solidFill>
                  <a:schemeClr val="tx1"/>
                </a:solidFill>
              </a:rPr>
              <a:t>A memory system is coherent if</a:t>
            </a:r>
          </a:p>
          <a:p>
            <a:pPr marL="457200" indent="-457200" algn="just"/>
            <a:r>
              <a:rPr lang="en-US" sz="2200" dirty="0">
                <a:solidFill>
                  <a:schemeClr val="tx1"/>
                </a:solidFill>
              </a:rPr>
              <a:t>1. 	A read by processor P to location X that follows a write by P to X, with no writes of X by another processor occurring between the write and the read by P, always returns the value written by P.</a:t>
            </a:r>
          </a:p>
          <a:p>
            <a:pPr marL="457200" indent="-457200" algn="just"/>
            <a:r>
              <a:rPr lang="en-US" sz="2200" dirty="0">
                <a:solidFill>
                  <a:schemeClr val="tx1"/>
                </a:solidFill>
              </a:rPr>
              <a:t>2.  A read by a processor to location X that follows a write by another processor to X returns the written value if the read and write are sufficiently separated in time and no other writes to X occur between the two accesses.</a:t>
            </a:r>
          </a:p>
          <a:p>
            <a:pPr marL="457200" indent="-457200" algn="just">
              <a:buAutoNum type="arabicPeriod" startAt="3"/>
            </a:pPr>
            <a:r>
              <a:rPr lang="en-US" sz="2200" dirty="0">
                <a:solidFill>
                  <a:schemeClr val="tx1"/>
                </a:solidFill>
              </a:rPr>
              <a:t>Writes to the same location are </a:t>
            </a:r>
            <a:r>
              <a:rPr lang="en-US" sz="2200" i="1" dirty="0">
                <a:solidFill>
                  <a:schemeClr val="tx1"/>
                </a:solidFill>
              </a:rPr>
              <a:t>serialized; that is, two writes to the same location </a:t>
            </a:r>
            <a:r>
              <a:rPr lang="en-US" sz="2200" dirty="0">
                <a:solidFill>
                  <a:schemeClr val="tx1"/>
                </a:solidFill>
              </a:rPr>
              <a:t>by any two processors are seen in the same order by all processors. </a:t>
            </a:r>
          </a:p>
          <a:p>
            <a:pPr marL="457200" indent="-457200" algn="just">
              <a:buFont typeface="Arial" pitchFamily="34" charset="0"/>
              <a:buChar char="•"/>
            </a:pPr>
            <a:r>
              <a:rPr lang="en-US" sz="2200" dirty="0">
                <a:solidFill>
                  <a:schemeClr val="tx1"/>
                </a:solidFill>
              </a:rPr>
              <a:t>The first property simply preserves program </a:t>
            </a:r>
          </a:p>
          <a:p>
            <a:pPr marL="457200" indent="-457200" algn="just">
              <a:buFont typeface="Arial" pitchFamily="34" charset="0"/>
              <a:buChar char="•"/>
            </a:pPr>
            <a:r>
              <a:rPr lang="en-US" sz="2200" dirty="0">
                <a:solidFill>
                  <a:schemeClr val="tx1"/>
                </a:solidFill>
              </a:rPr>
              <a:t>The second property defines the notion of what it means to have a coherent view of memory: If a processor could continuously read an old data value, we would clearly say that memory was incoherent.</a:t>
            </a:r>
          </a:p>
          <a:p>
            <a:pPr marL="457200" indent="-457200" algn="just"/>
            <a:endParaRPr lang="en-US" sz="2200" b="1"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457200"/>
            <a:ext cx="8686800" cy="6248400"/>
          </a:xfrm>
        </p:spPr>
        <p:txBody>
          <a:bodyPr>
            <a:noAutofit/>
          </a:bodyPr>
          <a:lstStyle/>
          <a:p>
            <a:pPr marL="457200" indent="-457200" algn="just"/>
            <a:r>
              <a:rPr lang="en-US" sz="2200" b="1" dirty="0">
                <a:solidFill>
                  <a:schemeClr val="tx1"/>
                </a:solidFill>
              </a:rPr>
              <a:t>Multiprocessor Cache Coherence</a:t>
            </a:r>
          </a:p>
          <a:p>
            <a:pPr marL="457200" indent="-457200" algn="just">
              <a:buFont typeface="Arial" pitchFamily="34" charset="0"/>
              <a:buChar char="•"/>
            </a:pPr>
            <a:r>
              <a:rPr lang="en-US" sz="2200" dirty="0">
                <a:solidFill>
                  <a:schemeClr val="tx1"/>
                </a:solidFill>
              </a:rPr>
              <a:t>Suppose we did not serialize writes, and processor P1 writes  location X followed by P2 writing location X. Serializing the writes ensures that every processor will see the write done by P2 at some point. </a:t>
            </a:r>
          </a:p>
          <a:p>
            <a:pPr marL="457200" indent="-457200" algn="just">
              <a:buFont typeface="Arial" pitchFamily="34" charset="0"/>
              <a:buChar char="•"/>
            </a:pPr>
            <a:r>
              <a:rPr lang="en-US" sz="2200" dirty="0">
                <a:solidFill>
                  <a:schemeClr val="tx1"/>
                </a:solidFill>
              </a:rPr>
              <a:t>If we did not serialize the writes, it might be the case that some processors could see the write of P2 first and then see the write of P1, maintaining the value written by P1 indefinitely. </a:t>
            </a:r>
          </a:p>
          <a:p>
            <a:pPr marL="457200" indent="-457200" algn="just">
              <a:buFont typeface="Arial" pitchFamily="34" charset="0"/>
              <a:buChar char="•"/>
            </a:pPr>
            <a:r>
              <a:rPr lang="en-US" sz="2200" dirty="0">
                <a:solidFill>
                  <a:schemeClr val="tx1"/>
                </a:solidFill>
              </a:rPr>
              <a:t>The simplest way to avoid such difficulties is to ensure that all writes to the same location are seen in the same order; this property is called write serialization.</a:t>
            </a:r>
          </a:p>
          <a:p>
            <a:pPr marL="457200" indent="-457200" algn="just">
              <a:buFont typeface="Arial" pitchFamily="34" charset="0"/>
              <a:buChar char="•"/>
            </a:pPr>
            <a:r>
              <a:rPr lang="en-US" sz="2200" dirty="0">
                <a:solidFill>
                  <a:schemeClr val="tx1"/>
                </a:solidFill>
              </a:rPr>
              <a:t>The question of when a written value will be seen is important. </a:t>
            </a:r>
          </a:p>
          <a:p>
            <a:pPr marL="457200" indent="-457200" algn="just">
              <a:buFont typeface="Arial" pitchFamily="34" charset="0"/>
              <a:buChar char="•"/>
            </a:pPr>
            <a:r>
              <a:rPr lang="en-US" sz="2200" dirty="0">
                <a:solidFill>
                  <a:schemeClr val="tx1"/>
                </a:solidFill>
              </a:rPr>
              <a:t>If, for example, a write of X on one processor precedes a read of X on another processor by a very small time, it may be impossible to ensure that the read returns the value of the data written, since the written data may not even have left the processor at that point. </a:t>
            </a:r>
          </a:p>
          <a:p>
            <a:pPr marL="457200" indent="-457200" algn="just">
              <a:buFont typeface="Arial" pitchFamily="34" charset="0"/>
              <a:buChar char="•"/>
            </a:pPr>
            <a:r>
              <a:rPr lang="en-US" sz="2200" dirty="0">
                <a:solidFill>
                  <a:schemeClr val="tx1"/>
                </a:solidFill>
              </a:rPr>
              <a:t>The issue of exactly when a written value must be seen by a reader is defined by a memory consistency model</a:t>
            </a:r>
          </a:p>
        </p:txBody>
      </p:sp>
      <mc:AlternateContent xmlns:mc="http://schemas.openxmlformats.org/markup-compatibility/2006" xmlns:p14="http://schemas.microsoft.com/office/powerpoint/2010/main">
        <mc:Choice Requires="p14">
          <p:contentPart p14:bwMode="auto" r:id="rId2">
            <p14:nvContentPartPr>
              <p14:cNvPr id="4098" name="Ink 2"/>
              <p14:cNvContentPartPr>
                <a14:cpLocks xmlns:a14="http://schemas.microsoft.com/office/drawing/2010/main" noRot="1" noChangeAspect="1" noEditPoints="1" noChangeArrowheads="1" noChangeShapeType="1"/>
              </p14:cNvContentPartPr>
              <p14:nvPr/>
            </p14:nvContentPartPr>
            <p14:xfrm>
              <a:off x="819150" y="4032250"/>
              <a:ext cx="2095500" cy="69850"/>
            </p14:xfrm>
          </p:contentPart>
        </mc:Choice>
        <mc:Fallback xmlns="">
          <p:pic>
            <p:nvPicPr>
              <p:cNvPr id="4098" name="Ink 2"/>
              <p:cNvPicPr>
                <a:picLocks noRot="1" noChangeAspect="1" noEditPoints="1" noChangeArrowheads="1" noChangeShapeType="1"/>
              </p:cNvPicPr>
              <p:nvPr/>
            </p:nvPicPr>
            <p:blipFill>
              <a:blip r:embed="rId3"/>
              <a:stretch>
                <a:fillRect/>
              </a:stretch>
            </p:blipFill>
            <p:spPr>
              <a:xfrm>
                <a:off x="809792" y="4024927"/>
                <a:ext cx="2114216" cy="8449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099" name="Ink 3"/>
              <p14:cNvContentPartPr>
                <a14:cpLocks xmlns:a14="http://schemas.microsoft.com/office/drawing/2010/main" noRot="1" noChangeAspect="1" noEditPoints="1" noChangeArrowheads="1" noChangeShapeType="1"/>
              </p14:cNvContentPartPr>
              <p14:nvPr/>
            </p14:nvContentPartPr>
            <p14:xfrm>
              <a:off x="2247900" y="6591300"/>
              <a:ext cx="3314700" cy="63500"/>
            </p14:xfrm>
          </p:contentPart>
        </mc:Choice>
        <mc:Fallback xmlns="">
          <p:pic>
            <p:nvPicPr>
              <p:cNvPr id="4099" name="Ink 3"/>
              <p:cNvPicPr>
                <a:picLocks noRot="1" noChangeAspect="1" noEditPoints="1" noChangeArrowheads="1" noChangeShapeType="1"/>
              </p:cNvPicPr>
              <p:nvPr/>
            </p:nvPicPr>
            <p:blipFill>
              <a:blip r:embed="rId5"/>
              <a:stretch>
                <a:fillRect/>
              </a:stretch>
            </p:blipFill>
            <p:spPr>
              <a:xfrm>
                <a:off x="2238542" y="6586561"/>
                <a:ext cx="3333417" cy="73357"/>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457200"/>
            <a:ext cx="8686800" cy="6248400"/>
          </a:xfrm>
        </p:spPr>
        <p:txBody>
          <a:bodyPr>
            <a:noAutofit/>
          </a:bodyPr>
          <a:lstStyle/>
          <a:p>
            <a:pPr marL="457200" indent="-457200" algn="just"/>
            <a:r>
              <a:rPr lang="en-US" sz="2200" b="1" dirty="0">
                <a:solidFill>
                  <a:schemeClr val="tx1"/>
                </a:solidFill>
              </a:rPr>
              <a:t>Multiprocessor Cache Coherence</a:t>
            </a:r>
          </a:p>
          <a:p>
            <a:pPr marL="457200" indent="-457200" algn="just">
              <a:buFont typeface="Arial" pitchFamily="34" charset="0"/>
              <a:buChar char="•"/>
            </a:pPr>
            <a:r>
              <a:rPr lang="en-US" sz="2200" dirty="0">
                <a:solidFill>
                  <a:schemeClr val="tx1"/>
                </a:solidFill>
              </a:rPr>
              <a:t>Coherence and consistency are complementary: Coherence defines the behavior of reads and writes to the same memory location, while consistency defines the behavior of reads and writes with respect to accesses to other memory locations. </a:t>
            </a:r>
          </a:p>
          <a:p>
            <a:pPr marL="457200" indent="-457200" algn="just"/>
            <a:r>
              <a:rPr lang="en-US" sz="2200" dirty="0">
                <a:solidFill>
                  <a:schemeClr val="tx1"/>
                </a:solidFill>
              </a:rPr>
              <a:t>Make the following two assumptions:</a:t>
            </a:r>
          </a:p>
          <a:p>
            <a:pPr marL="457200" indent="-457200" algn="just">
              <a:buFont typeface="Arial" pitchFamily="34" charset="0"/>
              <a:buChar char="•"/>
            </a:pPr>
            <a:r>
              <a:rPr lang="en-US" sz="2200" dirty="0">
                <a:solidFill>
                  <a:schemeClr val="tx1"/>
                </a:solidFill>
              </a:rPr>
              <a:t>First, a write does not complete (and allow the next write to occur) until all processors have seen the effect of that write. </a:t>
            </a:r>
          </a:p>
          <a:p>
            <a:pPr marL="457200" indent="-457200" algn="just">
              <a:buFont typeface="Arial" pitchFamily="34" charset="0"/>
              <a:buChar char="•"/>
            </a:pPr>
            <a:r>
              <a:rPr lang="en-US" sz="2200" dirty="0">
                <a:solidFill>
                  <a:schemeClr val="tx1"/>
                </a:solidFill>
              </a:rPr>
              <a:t>Second, the processor does not change the order of any write with respect to any other memory access. </a:t>
            </a:r>
          </a:p>
          <a:p>
            <a:pPr marL="457200" indent="-457200" algn="just">
              <a:buFont typeface="Arial" pitchFamily="34" charset="0"/>
              <a:buChar char="•"/>
            </a:pPr>
            <a:r>
              <a:rPr lang="en-US" sz="2200" dirty="0">
                <a:solidFill>
                  <a:schemeClr val="tx1"/>
                </a:solidFill>
              </a:rPr>
              <a:t>These two conditions mean that, if a processor writes location A followed by location B, any processor that sees the new value of B must also see the new value of A. </a:t>
            </a:r>
            <a:endParaRPr lang="en-US" sz="2200" b="1" dirty="0">
              <a:solidFill>
                <a:schemeClr val="tx1"/>
              </a:solidFill>
            </a:endParaRPr>
          </a:p>
        </p:txBody>
      </p:sp>
      <mc:AlternateContent xmlns:mc="http://schemas.openxmlformats.org/markup-compatibility/2006" xmlns:p14="http://schemas.microsoft.com/office/powerpoint/2010/main">
        <mc:Choice Requires="p14">
          <p:contentPart p14:bwMode="auto" r:id="rId2">
            <p14:nvContentPartPr>
              <p14:cNvPr id="5122" name="Ink 2"/>
              <p14:cNvContentPartPr>
                <a14:cpLocks xmlns:a14="http://schemas.microsoft.com/office/drawing/2010/main" noRot="1" noChangeAspect="1" noEditPoints="1" noChangeArrowheads="1" noChangeShapeType="1"/>
              </p14:cNvContentPartPr>
              <p14:nvPr/>
            </p14:nvContentPartPr>
            <p14:xfrm>
              <a:off x="304800" y="2667000"/>
              <a:ext cx="4349750" cy="57150"/>
            </p14:xfrm>
          </p:contentPart>
        </mc:Choice>
        <mc:Fallback xmlns="">
          <p:pic>
            <p:nvPicPr>
              <p:cNvPr id="5122" name="Ink 2"/>
              <p:cNvPicPr>
                <a:picLocks noRot="1" noChangeAspect="1" noEditPoints="1" noChangeArrowheads="1" noChangeShapeType="1"/>
              </p:cNvPicPr>
              <p:nvPr/>
            </p:nvPicPr>
            <p:blipFill>
              <a:blip r:embed="rId3"/>
              <a:stretch>
                <a:fillRect/>
              </a:stretch>
            </p:blipFill>
            <p:spPr>
              <a:xfrm>
                <a:off x="295441" y="2663210"/>
                <a:ext cx="4368468" cy="65033"/>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123" name="Ink 3"/>
              <p14:cNvContentPartPr>
                <a14:cpLocks xmlns:a14="http://schemas.microsoft.com/office/drawing/2010/main" noRot="1" noChangeAspect="1" noEditPoints="1" noChangeArrowheads="1" noChangeShapeType="1"/>
              </p14:cNvContentPartPr>
              <p14:nvPr/>
            </p14:nvContentPartPr>
            <p14:xfrm>
              <a:off x="838200" y="1219200"/>
              <a:ext cx="5645150" cy="74613"/>
            </p14:xfrm>
          </p:contentPart>
        </mc:Choice>
        <mc:Fallback>
          <p:pic>
            <p:nvPicPr>
              <p:cNvPr id="5123" name="Ink 3"/>
              <p:cNvPicPr>
                <a:picLocks noRot="1" noChangeAspect="1" noEditPoints="1" noChangeArrowheads="1" noChangeShapeType="1"/>
              </p:cNvPicPr>
              <p:nvPr/>
            </p:nvPicPr>
            <p:blipFill>
              <a:blip r:embed="rId5"/>
              <a:stretch>
                <a:fillRect/>
              </a:stretch>
            </p:blipFill>
            <p:spPr>
              <a:xfrm>
                <a:off x="828840" y="1210219"/>
                <a:ext cx="5663870" cy="92575"/>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457200"/>
            <a:ext cx="8686800" cy="6248400"/>
          </a:xfrm>
        </p:spPr>
        <p:txBody>
          <a:bodyPr>
            <a:noAutofit/>
          </a:bodyPr>
          <a:lstStyle/>
          <a:p>
            <a:pPr marL="457200" indent="-457200" algn="just"/>
            <a:r>
              <a:rPr lang="en-US" sz="2200" b="1" dirty="0">
                <a:solidFill>
                  <a:schemeClr val="tx1"/>
                </a:solidFill>
              </a:rPr>
              <a:t>Basic Schemes for Enforcing Coherence</a:t>
            </a:r>
          </a:p>
          <a:p>
            <a:pPr marL="457200" indent="-457200" algn="just">
              <a:buFont typeface="Arial" pitchFamily="34" charset="0"/>
              <a:buChar char="•"/>
            </a:pPr>
            <a:r>
              <a:rPr lang="en-US" sz="2200" dirty="0">
                <a:solidFill>
                  <a:schemeClr val="tx1"/>
                </a:solidFill>
              </a:rPr>
              <a:t>In a coherent multiprocessor, the caches provide both migration and replication of shared data items.</a:t>
            </a:r>
          </a:p>
          <a:p>
            <a:pPr marL="457200" indent="-457200" algn="just">
              <a:buFont typeface="Arial" pitchFamily="34" charset="0"/>
              <a:buChar char="•"/>
            </a:pPr>
            <a:r>
              <a:rPr lang="en-US" sz="2200" dirty="0">
                <a:solidFill>
                  <a:schemeClr val="tx1"/>
                </a:solidFill>
              </a:rPr>
              <a:t>Coherent caches provide migration, since a data item can be moved to a local cache and used there in a transparent fashion. </a:t>
            </a:r>
          </a:p>
          <a:p>
            <a:pPr marL="457200" indent="-457200" algn="just">
              <a:buFont typeface="Arial" pitchFamily="34" charset="0"/>
              <a:buChar char="•"/>
            </a:pPr>
            <a:r>
              <a:rPr lang="en-US" sz="2200" dirty="0">
                <a:solidFill>
                  <a:schemeClr val="tx1"/>
                </a:solidFill>
              </a:rPr>
              <a:t>This migration reduces both the latency to access a shared data item that is allocated remotely and the bandwidth demand on the shared memory.</a:t>
            </a:r>
          </a:p>
          <a:p>
            <a:pPr marL="457200" indent="-457200" algn="just">
              <a:buFont typeface="Arial" pitchFamily="34" charset="0"/>
              <a:buChar char="•"/>
            </a:pPr>
            <a:r>
              <a:rPr lang="en-US" sz="2200" dirty="0">
                <a:solidFill>
                  <a:schemeClr val="tx1"/>
                </a:solidFill>
              </a:rPr>
              <a:t>Coherent caches also provide replication for shared data that are being simultaneously read, since the caches make a copy of the data item in the local cache. </a:t>
            </a:r>
          </a:p>
          <a:p>
            <a:pPr marL="457200" indent="-457200" algn="just">
              <a:buFont typeface="Arial" pitchFamily="34" charset="0"/>
              <a:buChar char="•"/>
            </a:pPr>
            <a:r>
              <a:rPr lang="en-US" sz="2200" dirty="0">
                <a:solidFill>
                  <a:schemeClr val="tx1"/>
                </a:solidFill>
              </a:rPr>
              <a:t>Replication reduces both latency of access and contention for a read shared data item. Supporting this migration and replication is critical to performance in accessing shared data. </a:t>
            </a:r>
          </a:p>
          <a:p>
            <a:pPr marL="457200" indent="-457200" algn="just">
              <a:buFont typeface="Arial" pitchFamily="34" charset="0"/>
              <a:buChar char="•"/>
            </a:pPr>
            <a:r>
              <a:rPr lang="en-US" sz="2200" dirty="0">
                <a:solidFill>
                  <a:schemeClr val="tx1"/>
                </a:solidFill>
              </a:rPr>
              <a:t>Multiprocessors adopt a hardware solution by introducing a protocol to maintain coherent caches.</a:t>
            </a:r>
          </a:p>
        </p:txBody>
      </p:sp>
      <mc:AlternateContent xmlns:mc="http://schemas.openxmlformats.org/markup-compatibility/2006" xmlns:p14="http://schemas.microsoft.com/office/powerpoint/2010/main">
        <mc:Choice Requires="p14">
          <p:contentPart p14:bwMode="auto" r:id="rId2">
            <p14:nvContentPartPr>
              <p14:cNvPr id="6146" name="Ink 2"/>
              <p14:cNvContentPartPr>
                <a14:cpLocks xmlns:a14="http://schemas.microsoft.com/office/drawing/2010/main" noRot="1" noChangeAspect="1" noEditPoints="1" noChangeArrowheads="1" noChangeShapeType="1"/>
              </p14:cNvContentPartPr>
              <p14:nvPr/>
            </p14:nvContentPartPr>
            <p14:xfrm>
              <a:off x="1117600" y="1955800"/>
              <a:ext cx="3702050" cy="50800"/>
            </p14:xfrm>
          </p:contentPart>
        </mc:Choice>
        <mc:Fallback xmlns="">
          <p:pic>
            <p:nvPicPr>
              <p:cNvPr id="6146" name="Ink 2"/>
              <p:cNvPicPr>
                <a:picLocks noRot="1" noChangeAspect="1" noEditPoints="1" noChangeArrowheads="1" noChangeShapeType="1"/>
              </p:cNvPicPr>
              <p:nvPr/>
            </p:nvPicPr>
            <p:blipFill>
              <a:blip r:embed="rId3"/>
              <a:stretch>
                <a:fillRect/>
              </a:stretch>
            </p:blipFill>
            <p:spPr>
              <a:xfrm>
                <a:off x="1108241" y="1951083"/>
                <a:ext cx="3720767" cy="60234"/>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147" name="Ink 3"/>
              <p14:cNvContentPartPr>
                <a14:cpLocks xmlns:a14="http://schemas.microsoft.com/office/drawing/2010/main" noRot="1" noChangeAspect="1" noEditPoints="1" noChangeArrowheads="1" noChangeShapeType="1"/>
              </p14:cNvContentPartPr>
              <p14:nvPr/>
            </p14:nvContentPartPr>
            <p14:xfrm>
              <a:off x="3663950" y="5753100"/>
              <a:ext cx="5334000" cy="184150"/>
            </p14:xfrm>
          </p:contentPart>
        </mc:Choice>
        <mc:Fallback xmlns="">
          <p:pic>
            <p:nvPicPr>
              <p:cNvPr id="6147" name="Ink 3"/>
              <p:cNvPicPr>
                <a:picLocks noRot="1" noChangeAspect="1" noEditPoints="1" noChangeArrowheads="1" noChangeShapeType="1"/>
              </p:cNvPicPr>
              <p:nvPr/>
            </p:nvPicPr>
            <p:blipFill>
              <a:blip r:embed="rId5"/>
              <a:stretch>
                <a:fillRect/>
              </a:stretch>
            </p:blipFill>
            <p:spPr>
              <a:xfrm>
                <a:off x="3654590" y="5743875"/>
                <a:ext cx="5352720" cy="20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148" name="Ink 4"/>
              <p14:cNvContentPartPr>
                <a14:cpLocks xmlns:a14="http://schemas.microsoft.com/office/drawing/2010/main" noRot="1" noChangeAspect="1" noEditPoints="1" noChangeArrowheads="1" noChangeShapeType="1"/>
              </p14:cNvContentPartPr>
              <p14:nvPr/>
            </p14:nvContentPartPr>
            <p14:xfrm>
              <a:off x="812800" y="6280150"/>
              <a:ext cx="3352800" cy="82550"/>
            </p14:xfrm>
          </p:contentPart>
        </mc:Choice>
        <mc:Fallback xmlns="">
          <p:pic>
            <p:nvPicPr>
              <p:cNvPr id="6148" name="Ink 4"/>
              <p:cNvPicPr>
                <a:picLocks noRot="1" noChangeAspect="1" noEditPoints="1" noChangeArrowheads="1" noChangeShapeType="1"/>
              </p:cNvPicPr>
              <p:nvPr/>
            </p:nvPicPr>
            <p:blipFill>
              <a:blip r:embed="rId7"/>
              <a:stretch>
                <a:fillRect/>
              </a:stretch>
            </p:blipFill>
            <p:spPr>
              <a:xfrm>
                <a:off x="803441" y="6272800"/>
                <a:ext cx="3371519" cy="97251"/>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457200"/>
            <a:ext cx="8686800" cy="6248400"/>
          </a:xfrm>
        </p:spPr>
        <p:txBody>
          <a:bodyPr>
            <a:noAutofit/>
          </a:bodyPr>
          <a:lstStyle/>
          <a:p>
            <a:pPr marL="457200" indent="-457200" algn="just"/>
            <a:r>
              <a:rPr lang="en-US" sz="2200" b="1" dirty="0">
                <a:solidFill>
                  <a:schemeClr val="tx1"/>
                </a:solidFill>
              </a:rPr>
              <a:t>Basic Schemes for Enforcing Coherence</a:t>
            </a:r>
          </a:p>
          <a:p>
            <a:pPr marL="457200" indent="-457200" algn="just">
              <a:buFont typeface="Arial" pitchFamily="34" charset="0"/>
              <a:buChar char="•"/>
            </a:pPr>
            <a:r>
              <a:rPr lang="en-US" sz="2200" dirty="0">
                <a:solidFill>
                  <a:schemeClr val="tx1"/>
                </a:solidFill>
              </a:rPr>
              <a:t>The protocols to maintain coherence for multiple processors are called cache coherence protocols. Key to implementing a cache coherence protocol is tracking the state of any sharing of a data block. </a:t>
            </a:r>
          </a:p>
          <a:p>
            <a:pPr marL="457200" indent="-457200" algn="just">
              <a:buFont typeface="Arial" pitchFamily="34" charset="0"/>
              <a:buChar char="•"/>
            </a:pPr>
            <a:r>
              <a:rPr lang="en-US" sz="2200" dirty="0">
                <a:solidFill>
                  <a:schemeClr val="tx1"/>
                </a:solidFill>
              </a:rPr>
              <a:t>There are two classes of protocols in use, each of which uses different techniques to track the sharing status:</a:t>
            </a:r>
          </a:p>
          <a:p>
            <a:pPr marL="457200" indent="-457200" algn="just"/>
            <a:r>
              <a:rPr lang="en-US" sz="2200" dirty="0">
                <a:solidFill>
                  <a:schemeClr val="tx1"/>
                </a:solidFill>
              </a:rPr>
              <a:t>	■ 	</a:t>
            </a:r>
            <a:r>
              <a:rPr lang="en-US" sz="2200" dirty="0">
                <a:solidFill>
                  <a:srgbClr val="FF0000"/>
                </a:solidFill>
              </a:rPr>
              <a:t>Directory based</a:t>
            </a:r>
            <a:r>
              <a:rPr lang="en-US" sz="2200" dirty="0">
                <a:solidFill>
                  <a:schemeClr val="tx1"/>
                </a:solidFill>
              </a:rPr>
              <a:t>—The sharing status of a particular block of 	physical 	memory is kept in one location, called the 	directory. </a:t>
            </a:r>
          </a:p>
          <a:p>
            <a:pPr marL="457200" indent="-457200" algn="just">
              <a:buFont typeface="Arial" pitchFamily="34" charset="0"/>
              <a:buChar char="•"/>
            </a:pPr>
            <a:r>
              <a:rPr lang="en-US" sz="2200" dirty="0">
                <a:solidFill>
                  <a:schemeClr val="tx1"/>
                </a:solidFill>
              </a:rPr>
              <a:t>There are two very different types of directory-based cache coherence. </a:t>
            </a:r>
          </a:p>
          <a:p>
            <a:pPr marL="914400" lvl="1" indent="-457200" algn="just">
              <a:buFont typeface="Arial" pitchFamily="34" charset="0"/>
              <a:buChar char="•"/>
            </a:pPr>
            <a:r>
              <a:rPr lang="en-US" sz="2000" dirty="0">
                <a:solidFill>
                  <a:schemeClr val="tx1"/>
                </a:solidFill>
              </a:rPr>
              <a:t>In an SMP, we can use one centralized directory, associated with the memory or some other single serialization point, such as the outermost cache in a </a:t>
            </a:r>
            <a:r>
              <a:rPr lang="en-US" sz="2000" dirty="0" err="1">
                <a:solidFill>
                  <a:schemeClr val="tx1"/>
                </a:solidFill>
              </a:rPr>
              <a:t>multicore</a:t>
            </a:r>
            <a:r>
              <a:rPr lang="en-US" sz="2000" dirty="0">
                <a:solidFill>
                  <a:schemeClr val="tx1"/>
                </a:solidFill>
              </a:rPr>
              <a:t>. </a:t>
            </a:r>
          </a:p>
          <a:p>
            <a:pPr marL="914400" lvl="1" indent="-457200" algn="just">
              <a:buFont typeface="Arial" pitchFamily="34" charset="0"/>
              <a:buChar char="•"/>
            </a:pPr>
            <a:r>
              <a:rPr lang="en-US" sz="2000" dirty="0">
                <a:solidFill>
                  <a:schemeClr val="tx1"/>
                </a:solidFill>
              </a:rPr>
              <a:t>In a DSM, it makes no sense to have a single directory, since that would create a single point of contention and make it difficult to scale to many </a:t>
            </a:r>
            <a:r>
              <a:rPr lang="en-US" sz="2000" dirty="0" err="1">
                <a:solidFill>
                  <a:schemeClr val="tx1"/>
                </a:solidFill>
              </a:rPr>
              <a:t>multicore</a:t>
            </a:r>
            <a:r>
              <a:rPr lang="en-US" sz="2000" dirty="0">
                <a:solidFill>
                  <a:schemeClr val="tx1"/>
                </a:solidFill>
              </a:rPr>
              <a:t> chips given the memory demands of </a:t>
            </a:r>
            <a:r>
              <a:rPr lang="en-US" sz="2000" dirty="0" err="1">
                <a:solidFill>
                  <a:schemeClr val="tx1"/>
                </a:solidFill>
              </a:rPr>
              <a:t>multicores</a:t>
            </a:r>
            <a:r>
              <a:rPr lang="en-US" sz="2000" dirty="0">
                <a:solidFill>
                  <a:schemeClr val="tx1"/>
                </a:solidFill>
              </a:rPr>
              <a:t> with eight or more cores. Distributed directories are more complex than a single directory.</a:t>
            </a:r>
          </a:p>
        </p:txBody>
      </p:sp>
      <mc:AlternateContent xmlns:mc="http://schemas.openxmlformats.org/markup-compatibility/2006" xmlns:p14="http://schemas.microsoft.com/office/powerpoint/2010/main">
        <mc:Choice Requires="p14">
          <p:contentPart p14:bwMode="auto" r:id="rId2">
            <p14:nvContentPartPr>
              <p14:cNvPr id="7170" name="Ink 2"/>
              <p14:cNvContentPartPr>
                <a14:cpLocks xmlns:a14="http://schemas.microsoft.com/office/drawing/2010/main" noRot="1" noChangeAspect="1" noEditPoints="1" noChangeArrowheads="1" noChangeShapeType="1"/>
              </p14:cNvContentPartPr>
              <p14:nvPr/>
            </p14:nvContentPartPr>
            <p14:xfrm>
              <a:off x="596900" y="2863850"/>
              <a:ext cx="476250" cy="152400"/>
            </p14:xfrm>
          </p:contentPart>
        </mc:Choice>
        <mc:Fallback xmlns="">
          <p:pic>
            <p:nvPicPr>
              <p:cNvPr id="7170" name="Ink 2"/>
              <p:cNvPicPr>
                <a:picLocks noRot="1" noChangeAspect="1" noEditPoints="1" noChangeArrowheads="1" noChangeShapeType="1"/>
              </p:cNvPicPr>
              <p:nvPr/>
            </p:nvPicPr>
            <p:blipFill>
              <a:blip r:embed="rId3"/>
              <a:stretch>
                <a:fillRect/>
              </a:stretch>
            </p:blipFill>
            <p:spPr>
              <a:xfrm>
                <a:off x="587548" y="2854505"/>
                <a:ext cx="494955" cy="171091"/>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171" name="Ink 3"/>
              <p14:cNvContentPartPr>
                <a14:cpLocks xmlns:a14="http://schemas.microsoft.com/office/drawing/2010/main" noRot="1" noChangeAspect="1" noEditPoints="1" noChangeArrowheads="1" noChangeShapeType="1"/>
              </p14:cNvContentPartPr>
              <p14:nvPr/>
            </p14:nvContentPartPr>
            <p14:xfrm>
              <a:off x="1219200" y="4495800"/>
              <a:ext cx="1174750" cy="25400"/>
            </p14:xfrm>
          </p:contentPart>
        </mc:Choice>
        <mc:Fallback xmlns="">
          <p:pic>
            <p:nvPicPr>
              <p:cNvPr id="7171" name="Ink 3"/>
              <p:cNvPicPr>
                <a:picLocks noRot="1" noChangeAspect="1" noEditPoints="1" noChangeArrowheads="1" noChangeShapeType="1"/>
              </p:cNvPicPr>
              <p:nvPr/>
            </p:nvPicPr>
            <p:blipFill>
              <a:blip r:embed="rId5"/>
              <a:stretch>
                <a:fillRect/>
              </a:stretch>
            </p:blipFill>
            <p:spPr>
              <a:xfrm>
                <a:off x="1209842" y="4486628"/>
                <a:ext cx="1193465" cy="4374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172" name="Ink 4"/>
              <p14:cNvContentPartPr>
                <a14:cpLocks xmlns:a14="http://schemas.microsoft.com/office/drawing/2010/main" noRot="1" noChangeAspect="1" noEditPoints="1" noChangeArrowheads="1" noChangeShapeType="1"/>
              </p14:cNvContentPartPr>
              <p14:nvPr/>
            </p14:nvContentPartPr>
            <p14:xfrm>
              <a:off x="850900" y="1441450"/>
              <a:ext cx="3073400" cy="152400"/>
            </p14:xfrm>
          </p:contentPart>
        </mc:Choice>
        <mc:Fallback xmlns="">
          <p:pic>
            <p:nvPicPr>
              <p:cNvPr id="7172" name="Ink 4"/>
              <p:cNvPicPr>
                <a:picLocks noRot="1" noChangeAspect="1" noEditPoints="1" noChangeArrowheads="1" noChangeShapeType="1"/>
              </p:cNvPicPr>
              <p:nvPr/>
            </p:nvPicPr>
            <p:blipFill>
              <a:blip r:embed="rId7"/>
              <a:stretch>
                <a:fillRect/>
              </a:stretch>
            </p:blipFill>
            <p:spPr>
              <a:xfrm>
                <a:off x="841541" y="1432105"/>
                <a:ext cx="3092118" cy="17109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173" name="Ink 5"/>
              <p14:cNvContentPartPr>
                <a14:cpLocks xmlns:a14="http://schemas.microsoft.com/office/drawing/2010/main" noRot="1" noChangeAspect="1" noEditPoints="1" noChangeArrowheads="1" noChangeShapeType="1"/>
              </p14:cNvContentPartPr>
              <p14:nvPr/>
            </p14:nvContentPartPr>
            <p14:xfrm>
              <a:off x="2781300" y="4425950"/>
              <a:ext cx="3702050" cy="19050"/>
            </p14:xfrm>
          </p:contentPart>
        </mc:Choice>
        <mc:Fallback xmlns="">
          <p:pic>
            <p:nvPicPr>
              <p:cNvPr id="7173" name="Ink 5"/>
              <p:cNvPicPr>
                <a:picLocks noRot="1" noChangeAspect="1" noEditPoints="1" noChangeArrowheads="1" noChangeShapeType="1"/>
              </p:cNvPicPr>
              <p:nvPr/>
            </p:nvPicPr>
            <p:blipFill>
              <a:blip r:embed="rId9"/>
              <a:stretch>
                <a:fillRect/>
              </a:stretch>
            </p:blipFill>
            <p:spPr>
              <a:xfrm>
                <a:off x="2771940" y="4421277"/>
                <a:ext cx="3720769" cy="28395"/>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175" name="Ink 7"/>
              <p14:cNvContentPartPr>
                <a14:cpLocks xmlns:a14="http://schemas.microsoft.com/office/drawing/2010/main" noRot="1" noChangeAspect="1" noEditPoints="1" noChangeArrowheads="1" noChangeShapeType="1"/>
              </p14:cNvContentPartPr>
              <p14:nvPr/>
            </p14:nvContentPartPr>
            <p14:xfrm>
              <a:off x="7569200" y="6127750"/>
              <a:ext cx="1447800" cy="50800"/>
            </p14:xfrm>
          </p:contentPart>
        </mc:Choice>
        <mc:Fallback xmlns="">
          <p:pic>
            <p:nvPicPr>
              <p:cNvPr id="7175" name="Ink 7"/>
              <p:cNvPicPr>
                <a:picLocks noRot="1" noChangeAspect="1" noEditPoints="1" noChangeArrowheads="1" noChangeShapeType="1"/>
              </p:cNvPicPr>
              <p:nvPr/>
            </p:nvPicPr>
            <p:blipFill>
              <a:blip r:embed="rId11"/>
              <a:stretch>
                <a:fillRect/>
              </a:stretch>
            </p:blipFill>
            <p:spPr>
              <a:xfrm>
                <a:off x="7559841" y="6118449"/>
                <a:ext cx="1466518" cy="69403"/>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176" name="Ink 8"/>
              <p14:cNvContentPartPr>
                <a14:cpLocks xmlns:a14="http://schemas.microsoft.com/office/drawing/2010/main" noRot="1" noChangeAspect="1" noEditPoints="1" noChangeArrowheads="1" noChangeShapeType="1"/>
              </p14:cNvContentPartPr>
              <p14:nvPr/>
            </p14:nvContentPartPr>
            <p14:xfrm>
              <a:off x="838200" y="6400800"/>
              <a:ext cx="2508250" cy="44450"/>
            </p14:xfrm>
          </p:contentPart>
        </mc:Choice>
        <mc:Fallback xmlns="">
          <p:pic>
            <p:nvPicPr>
              <p:cNvPr id="7176" name="Ink 8"/>
              <p:cNvPicPr>
                <a:picLocks noRot="1" noChangeAspect="1" noEditPoints="1" noChangeArrowheads="1" noChangeShapeType="1"/>
              </p:cNvPicPr>
              <p:nvPr/>
            </p:nvPicPr>
            <p:blipFill>
              <a:blip r:embed="rId13"/>
              <a:stretch>
                <a:fillRect/>
              </a:stretch>
            </p:blipFill>
            <p:spPr>
              <a:xfrm>
                <a:off x="828841" y="6394081"/>
                <a:ext cx="2526968" cy="57888"/>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457200"/>
            <a:ext cx="8686800" cy="6248400"/>
          </a:xfrm>
        </p:spPr>
        <p:txBody>
          <a:bodyPr>
            <a:noAutofit/>
          </a:bodyPr>
          <a:lstStyle/>
          <a:p>
            <a:pPr marL="457200" indent="-457200" algn="just"/>
            <a:r>
              <a:rPr lang="en-US" sz="2200" b="1" dirty="0">
                <a:solidFill>
                  <a:schemeClr val="tx1"/>
                </a:solidFill>
              </a:rPr>
              <a:t>Basic Schemes for Enforcing Coherence</a:t>
            </a:r>
          </a:p>
          <a:p>
            <a:pPr marL="457200" indent="-457200" algn="just"/>
            <a:r>
              <a:rPr lang="en-US" sz="2200" dirty="0">
                <a:solidFill>
                  <a:schemeClr val="tx1"/>
                </a:solidFill>
              </a:rPr>
              <a:t>	 ■ 	</a:t>
            </a:r>
            <a:r>
              <a:rPr lang="en-US" sz="2200" dirty="0">
                <a:solidFill>
                  <a:srgbClr val="FF0000"/>
                </a:solidFill>
              </a:rPr>
              <a:t>Snooping</a:t>
            </a:r>
            <a:r>
              <a:rPr lang="en-US" sz="2200" dirty="0">
                <a:solidFill>
                  <a:schemeClr val="tx1"/>
                </a:solidFill>
              </a:rPr>
              <a:t>—Rather than keeping the state of sharing in a single 	directory, every cache that has a copy of the data from a block of 	physical memory could track the sharing status of the block.</a:t>
            </a:r>
          </a:p>
          <a:p>
            <a:pPr marL="457200" indent="-457200" algn="just">
              <a:buFont typeface="Arial" pitchFamily="34" charset="0"/>
              <a:buChar char="•"/>
            </a:pPr>
            <a:r>
              <a:rPr lang="en-US" sz="2200" dirty="0">
                <a:solidFill>
                  <a:schemeClr val="tx1"/>
                </a:solidFill>
              </a:rPr>
              <a:t>In an SMP, the caches are typically all accessible via some broadcast medium (e.g., a bus connects the per-core caches to the shared cache or memory), and all cache controllers monitor or snoop on the medium to determine whether or not they have a copy of a block that is requested on a bus or switch access. </a:t>
            </a:r>
          </a:p>
        </p:txBody>
      </p:sp>
      <mc:AlternateContent xmlns:mc="http://schemas.openxmlformats.org/markup-compatibility/2006" xmlns:p14="http://schemas.microsoft.com/office/powerpoint/2010/main">
        <mc:Choice Requires="p14">
          <p:contentPart p14:bwMode="auto" r:id="rId2">
            <p14:nvContentPartPr>
              <p14:cNvPr id="8194" name="Ink 2"/>
              <p14:cNvContentPartPr>
                <a14:cpLocks xmlns:a14="http://schemas.microsoft.com/office/drawing/2010/main" noRot="1" noChangeAspect="1" noEditPoints="1" noChangeArrowheads="1" noChangeShapeType="1"/>
              </p14:cNvContentPartPr>
              <p14:nvPr/>
            </p14:nvContentPartPr>
            <p14:xfrm>
              <a:off x="736600" y="958850"/>
              <a:ext cx="425450" cy="190500"/>
            </p14:xfrm>
          </p:contentPart>
        </mc:Choice>
        <mc:Fallback xmlns="">
          <p:pic>
            <p:nvPicPr>
              <p:cNvPr id="8194" name="Ink 2"/>
              <p:cNvPicPr>
                <a:picLocks noRot="1" noChangeAspect="1" noEditPoints="1" noChangeArrowheads="1" noChangeShapeType="1"/>
              </p:cNvPicPr>
              <p:nvPr/>
            </p:nvPicPr>
            <p:blipFill>
              <a:blip r:embed="rId3"/>
              <a:stretch>
                <a:fillRect/>
              </a:stretch>
            </p:blipFill>
            <p:spPr>
              <a:xfrm>
                <a:off x="727249" y="949609"/>
                <a:ext cx="444151" cy="208981"/>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1297</Words>
  <Application>Microsoft Office PowerPoint</Application>
  <PresentationFormat>On-screen Show (4:3)</PresentationFormat>
  <Paragraphs>55</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Cache Coherence Issues</vt:lpstr>
      <vt:lpstr>Centralized Shared-Memory Architectures</vt:lpstr>
      <vt:lpstr>Centralized Shared-Memory Architectures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Centralized Shared-Memory Architectures</dc:title>
  <dc:creator>ananthi</dc:creator>
  <cp:lastModifiedBy>Priyadharsini S</cp:lastModifiedBy>
  <cp:revision>31</cp:revision>
  <dcterms:created xsi:type="dcterms:W3CDTF">2016-08-31T05:52:20Z</dcterms:created>
  <dcterms:modified xsi:type="dcterms:W3CDTF">2024-02-06T06:19:13Z</dcterms:modified>
</cp:coreProperties>
</file>