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bin" ContentType="application/vnd.openxmlformats-officedocument.oleObject"/>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10"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E1B262D-2D1C-465A-B991-7AC6E83A50E3}" type="datetimeFigureOut">
              <a:rPr lang="en-US" smtClean="0"/>
              <a:pPr/>
              <a:t>8/9/2017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0167FB-6F62-4608-BC77-FB4773C5D1B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E1B262D-2D1C-465A-B991-7AC6E83A50E3}" type="datetimeFigureOut">
              <a:rPr lang="en-US" smtClean="0"/>
              <a:pPr/>
              <a:t>8/9/2017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0167FB-6F62-4608-BC77-FB4773C5D1B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E1B262D-2D1C-465A-B991-7AC6E83A50E3}" type="datetimeFigureOut">
              <a:rPr lang="en-US" smtClean="0"/>
              <a:pPr/>
              <a:t>8/9/2017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0167FB-6F62-4608-BC77-FB4773C5D1B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E1B262D-2D1C-465A-B991-7AC6E83A50E3}" type="datetimeFigureOut">
              <a:rPr lang="en-US" smtClean="0"/>
              <a:pPr/>
              <a:t>8/9/2017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0167FB-6F62-4608-BC77-FB4773C5D1B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E1B262D-2D1C-465A-B991-7AC6E83A50E3}" type="datetimeFigureOut">
              <a:rPr lang="en-US" smtClean="0"/>
              <a:pPr/>
              <a:t>8/9/2017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20167FB-6F62-4608-BC77-FB4773C5D1B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E1B262D-2D1C-465A-B991-7AC6E83A50E3}" type="datetimeFigureOut">
              <a:rPr lang="en-US" smtClean="0"/>
              <a:pPr/>
              <a:t>8/9/2017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20167FB-6F62-4608-BC77-FB4773C5D1B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E1B262D-2D1C-465A-B991-7AC6E83A50E3}" type="datetimeFigureOut">
              <a:rPr lang="en-US" smtClean="0"/>
              <a:pPr/>
              <a:t>8/9/2017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20167FB-6F62-4608-BC77-FB4773C5D1B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E1B262D-2D1C-465A-B991-7AC6E83A50E3}" type="datetimeFigureOut">
              <a:rPr lang="en-US" smtClean="0"/>
              <a:pPr/>
              <a:t>8/9/2017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0167FB-6F62-4608-BC77-FB4773C5D1B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E1B262D-2D1C-465A-B991-7AC6E83A50E3}" type="datetimeFigureOut">
              <a:rPr lang="en-US" smtClean="0"/>
              <a:pPr/>
              <a:t>8/9/2017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20167FB-6F62-4608-BC77-FB4773C5D1B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E1B262D-2D1C-465A-B991-7AC6E83A50E3}" type="datetimeFigureOut">
              <a:rPr lang="en-US" smtClean="0"/>
              <a:pPr/>
              <a:t>8/9/2017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0167FB-6F62-4608-BC77-FB4773C5D1B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E1B262D-2D1C-465A-B991-7AC6E83A50E3}" type="datetimeFigureOut">
              <a:rPr lang="en-US" smtClean="0"/>
              <a:pPr/>
              <a:t>8/9/2017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20167FB-6F62-4608-BC77-FB4773C5D1B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1B262D-2D1C-465A-B991-7AC6E83A50E3}" type="datetimeFigureOut">
              <a:rPr lang="en-US" smtClean="0"/>
              <a:pPr/>
              <a:t>8/9/2017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0167FB-6F62-4608-BC77-FB4773C5D1B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3.v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4.v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5.v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6.v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vmlDrawing" Target="../drawings/vmlDrawing7.v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vmlDrawing" Target="../drawings/vmlDrawing8.v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Handling multidimensional arrays and sparse matrices</a:t>
            </a:r>
            <a:endParaRPr lang="en-US" dirty="0"/>
          </a:p>
        </p:txBody>
      </p:sp>
      <p:sp>
        <p:nvSpPr>
          <p:cNvPr id="3" name="Subtitle 2"/>
          <p:cNvSpPr>
            <a:spLocks noGrp="1"/>
          </p:cNvSpPr>
          <p:nvPr>
            <p:ph type="subTitle" idx="1"/>
          </p:nvPr>
        </p:nvSpPr>
        <p:spPr/>
        <p:txBody>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067800" cy="762000"/>
          </a:xfrm>
        </p:spPr>
        <p:txBody>
          <a:bodyPr>
            <a:noAutofit/>
          </a:bodyPr>
          <a:lstStyle/>
          <a:p>
            <a:r>
              <a:rPr lang="en-US" sz="3000" b="1" dirty="0" smtClean="0">
                <a:solidFill>
                  <a:srgbClr val="00B0F0"/>
                </a:solidFill>
              </a:rPr>
              <a:t>Stride: Handling Multidimensional Arrays in Vector Architectures</a:t>
            </a:r>
            <a:endParaRPr lang="en-US" sz="3000" b="1" dirty="0">
              <a:solidFill>
                <a:srgbClr val="00B0F0"/>
              </a:solidFill>
            </a:endParaRPr>
          </a:p>
        </p:txBody>
      </p:sp>
      <p:sp>
        <p:nvSpPr>
          <p:cNvPr id="3" name="Content Placeholder 2"/>
          <p:cNvSpPr>
            <a:spLocks noGrp="1"/>
          </p:cNvSpPr>
          <p:nvPr>
            <p:ph idx="1"/>
          </p:nvPr>
        </p:nvSpPr>
        <p:spPr>
          <a:xfrm>
            <a:off x="76200" y="762000"/>
            <a:ext cx="8915400" cy="5943600"/>
          </a:xfrm>
        </p:spPr>
        <p:txBody>
          <a:bodyPr>
            <a:noAutofit/>
          </a:bodyPr>
          <a:lstStyle/>
          <a:p>
            <a:pPr algn="just">
              <a:buNone/>
            </a:pPr>
            <a:r>
              <a:rPr lang="en-US" sz="2400" dirty="0"/>
              <a:t>	</a:t>
            </a:r>
            <a:r>
              <a:rPr lang="en-US" sz="2400" dirty="0" smtClean="0"/>
              <a:t>The position in memory of adjacent elements in a vector may not be sequential. Consider this straightforward code for matrix multiply in C: </a:t>
            </a:r>
          </a:p>
          <a:p>
            <a:pPr lvl="1" algn="just">
              <a:buNone/>
            </a:pPr>
            <a:r>
              <a:rPr lang="en-US" sz="2000" dirty="0"/>
              <a:t>	</a:t>
            </a:r>
            <a:r>
              <a:rPr lang="en-US" sz="2000" dirty="0" smtClean="0"/>
              <a:t>for (</a:t>
            </a:r>
            <a:r>
              <a:rPr lang="en-US" sz="2000" dirty="0" err="1" smtClean="0"/>
              <a:t>i</a:t>
            </a:r>
            <a:r>
              <a:rPr lang="en-US" sz="2000" dirty="0" smtClean="0"/>
              <a:t> = 0; </a:t>
            </a:r>
            <a:r>
              <a:rPr lang="en-US" sz="2000" dirty="0" err="1" smtClean="0"/>
              <a:t>i</a:t>
            </a:r>
            <a:r>
              <a:rPr lang="en-US" sz="2000" dirty="0" smtClean="0"/>
              <a:t> &lt; 100;  </a:t>
            </a:r>
            <a:r>
              <a:rPr lang="en-US" sz="2000" dirty="0" err="1" smtClean="0"/>
              <a:t>i</a:t>
            </a:r>
            <a:r>
              <a:rPr lang="en-US" sz="2000" dirty="0" smtClean="0"/>
              <a:t>=i+1) </a:t>
            </a:r>
          </a:p>
          <a:p>
            <a:pPr lvl="1" algn="just">
              <a:buNone/>
            </a:pPr>
            <a:r>
              <a:rPr lang="en-US" sz="2000" dirty="0"/>
              <a:t>	</a:t>
            </a:r>
            <a:r>
              <a:rPr lang="en-US" sz="2000" dirty="0" smtClean="0"/>
              <a:t>	for (j = 0; j &lt; 100;  j=j+1) { </a:t>
            </a:r>
          </a:p>
          <a:p>
            <a:pPr lvl="1" algn="just">
              <a:buNone/>
            </a:pPr>
            <a:r>
              <a:rPr lang="en-US" sz="2000" dirty="0"/>
              <a:t>	</a:t>
            </a:r>
            <a:r>
              <a:rPr lang="en-US" sz="2000" dirty="0" smtClean="0"/>
              <a:t>	      A[</a:t>
            </a:r>
            <a:r>
              <a:rPr lang="en-US" sz="2000" dirty="0" err="1" smtClean="0"/>
              <a:t>i</a:t>
            </a:r>
            <a:r>
              <a:rPr lang="en-US" sz="2000" dirty="0" smtClean="0"/>
              <a:t>][j] = 0.0; </a:t>
            </a:r>
          </a:p>
          <a:p>
            <a:pPr lvl="1" algn="just">
              <a:buNone/>
            </a:pPr>
            <a:r>
              <a:rPr lang="en-US" sz="2000" dirty="0"/>
              <a:t>	</a:t>
            </a:r>
            <a:r>
              <a:rPr lang="en-US" sz="2000" dirty="0" smtClean="0"/>
              <a:t>	      for (k = 0; k &lt; 100; k=k+1) </a:t>
            </a:r>
          </a:p>
          <a:p>
            <a:pPr lvl="1" algn="just">
              <a:buNone/>
            </a:pPr>
            <a:r>
              <a:rPr lang="en-US" sz="2000" dirty="0"/>
              <a:t>	</a:t>
            </a:r>
            <a:r>
              <a:rPr lang="en-US" sz="2000" dirty="0" smtClean="0"/>
              <a:t>	            A[</a:t>
            </a:r>
            <a:r>
              <a:rPr lang="en-US" sz="2000" dirty="0" err="1" smtClean="0"/>
              <a:t>i</a:t>
            </a:r>
            <a:r>
              <a:rPr lang="en-US" sz="2000" dirty="0" smtClean="0"/>
              <a:t>][j] = A[</a:t>
            </a:r>
            <a:r>
              <a:rPr lang="en-US" sz="2000" dirty="0" err="1" smtClean="0"/>
              <a:t>i</a:t>
            </a:r>
            <a:r>
              <a:rPr lang="en-US" sz="2000" dirty="0" smtClean="0"/>
              <a:t>][j] + B[</a:t>
            </a:r>
            <a:r>
              <a:rPr lang="en-US" sz="2000" dirty="0" err="1" smtClean="0"/>
              <a:t>i</a:t>
            </a:r>
            <a:r>
              <a:rPr lang="en-US" sz="2000" dirty="0" smtClean="0"/>
              <a:t>][k] * D[k][j]; } </a:t>
            </a:r>
          </a:p>
          <a:p>
            <a:pPr algn="just"/>
            <a:r>
              <a:rPr lang="en-US" sz="2400" dirty="0" smtClean="0"/>
              <a:t>We could </a:t>
            </a:r>
            <a:r>
              <a:rPr lang="en-US" sz="2400" dirty="0" err="1" smtClean="0"/>
              <a:t>vectorize</a:t>
            </a:r>
            <a:r>
              <a:rPr lang="en-US" sz="2400" dirty="0" smtClean="0"/>
              <a:t> the multiplication of each row of B with each column of D and strip-mine the inner loop with k as the index variable. </a:t>
            </a:r>
          </a:p>
          <a:p>
            <a:pPr algn="just"/>
            <a:r>
              <a:rPr lang="en-US" sz="2400" dirty="0" smtClean="0"/>
              <a:t>To do so, we must consider how to address adjacent elements in B and adjacent elements in D. </a:t>
            </a:r>
          </a:p>
          <a:p>
            <a:pPr algn="just"/>
            <a:r>
              <a:rPr lang="en-US" sz="2400" dirty="0" smtClean="0"/>
              <a:t>When an array is allocated memory, it is </a:t>
            </a:r>
            <a:r>
              <a:rPr lang="en-US" sz="2400" dirty="0" err="1" smtClean="0"/>
              <a:t>linearized</a:t>
            </a:r>
            <a:r>
              <a:rPr lang="en-US" sz="2400" dirty="0" smtClean="0"/>
              <a:t> and must be laid out in either row-major (as in C) or column-major (as in Fortran) order.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067800" cy="762000"/>
          </a:xfrm>
        </p:spPr>
        <p:txBody>
          <a:bodyPr>
            <a:noAutofit/>
          </a:bodyPr>
          <a:lstStyle/>
          <a:p>
            <a:r>
              <a:rPr lang="en-US" sz="3000" b="1" dirty="0" smtClean="0">
                <a:solidFill>
                  <a:srgbClr val="00B0F0"/>
                </a:solidFill>
              </a:rPr>
              <a:t>Stride: Handling Multidimensional Arrays in Vector Architectures</a:t>
            </a:r>
            <a:endParaRPr lang="en-US" sz="3000" b="1" dirty="0">
              <a:solidFill>
                <a:srgbClr val="00B0F0"/>
              </a:solidFill>
            </a:endParaRPr>
          </a:p>
        </p:txBody>
      </p:sp>
      <p:sp>
        <p:nvSpPr>
          <p:cNvPr id="3" name="Content Placeholder 2"/>
          <p:cNvSpPr>
            <a:spLocks noGrp="1"/>
          </p:cNvSpPr>
          <p:nvPr>
            <p:ph idx="1"/>
          </p:nvPr>
        </p:nvSpPr>
        <p:spPr>
          <a:xfrm>
            <a:off x="76200" y="762000"/>
            <a:ext cx="8915400" cy="5943600"/>
          </a:xfrm>
        </p:spPr>
        <p:txBody>
          <a:bodyPr>
            <a:noAutofit/>
          </a:bodyPr>
          <a:lstStyle/>
          <a:p>
            <a:pPr algn="just"/>
            <a:r>
              <a:rPr lang="en-US" sz="2400" dirty="0" smtClean="0"/>
              <a:t>This linearization means that either the elements in the row or the elements in the column are not adjacent in memory. </a:t>
            </a:r>
          </a:p>
          <a:p>
            <a:pPr algn="just"/>
            <a:r>
              <a:rPr lang="en-US" sz="2400" dirty="0" smtClean="0"/>
              <a:t>For example, the C code above allocates in row-major order, so the elements of D that are accessed by iterations in the inner loop are separated by the row size times 8 (the number of bytes per entry) for a total of 800 bytes.</a:t>
            </a:r>
          </a:p>
          <a:p>
            <a:pPr algn="just"/>
            <a:r>
              <a:rPr lang="en-US" sz="2400" smtClean="0"/>
              <a:t>This distance, </a:t>
            </a:r>
            <a:r>
              <a:rPr lang="en-US" sz="2400" dirty="0" smtClean="0"/>
              <a:t>separating elements to be gathered into a single register is called the stride. </a:t>
            </a:r>
          </a:p>
          <a:p>
            <a:pPr algn="just"/>
            <a:r>
              <a:rPr lang="en-US" sz="2400" dirty="0" smtClean="0"/>
              <a:t>In this example, matrix D has a stride of 100 double words (800 bytes), and matrix B would have a stride of 1 double word (8 bytes). </a:t>
            </a:r>
          </a:p>
          <a:p>
            <a:pPr algn="just"/>
            <a:r>
              <a:rPr lang="en-US" sz="2400" dirty="0" smtClean="0"/>
              <a:t>For column-major order, which is used by Fortran, the strides would be reversed. Matrix D would have a stride of 1, or 1 double word (8 bytes), separating successive elements, while matrix B would have a stride of 100, or 100 double words (800 bytes).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067800" cy="762000"/>
          </a:xfrm>
        </p:spPr>
        <p:txBody>
          <a:bodyPr>
            <a:noAutofit/>
          </a:bodyPr>
          <a:lstStyle/>
          <a:p>
            <a:r>
              <a:rPr lang="en-US" sz="3000" b="1" dirty="0" smtClean="0">
                <a:solidFill>
                  <a:srgbClr val="00B0F0"/>
                </a:solidFill>
              </a:rPr>
              <a:t>Stride: Handling Multidimensional Arrays in Vector Architectures</a:t>
            </a:r>
            <a:endParaRPr lang="en-US" sz="3000" b="1" dirty="0">
              <a:solidFill>
                <a:srgbClr val="00B0F0"/>
              </a:solidFill>
            </a:endParaRPr>
          </a:p>
        </p:txBody>
      </p:sp>
      <p:sp>
        <p:nvSpPr>
          <p:cNvPr id="3" name="Content Placeholder 2"/>
          <p:cNvSpPr>
            <a:spLocks noGrp="1"/>
          </p:cNvSpPr>
          <p:nvPr>
            <p:ph idx="1"/>
          </p:nvPr>
        </p:nvSpPr>
        <p:spPr>
          <a:xfrm>
            <a:off x="76200" y="762000"/>
            <a:ext cx="8915400" cy="5943600"/>
          </a:xfrm>
        </p:spPr>
        <p:txBody>
          <a:bodyPr>
            <a:noAutofit/>
          </a:bodyPr>
          <a:lstStyle/>
          <a:p>
            <a:pPr algn="just"/>
            <a:r>
              <a:rPr lang="en-US" sz="2400" dirty="0" smtClean="0"/>
              <a:t>Once a vector is loaded into a vector register, it acts as if it had logically adjacent elements. Thus, a vector processor can handle strides greater than one, called non-unit strides, using only vector load and vector store operations with stride capability. </a:t>
            </a:r>
          </a:p>
          <a:p>
            <a:pPr algn="just"/>
            <a:r>
              <a:rPr lang="en-US" sz="2400" dirty="0" smtClean="0"/>
              <a:t>This ability to access </a:t>
            </a:r>
            <a:r>
              <a:rPr lang="en-US" sz="2400" dirty="0" err="1" smtClean="0"/>
              <a:t>nonsequential</a:t>
            </a:r>
            <a:r>
              <a:rPr lang="en-US" sz="2400" dirty="0" smtClean="0"/>
              <a:t> memory locations and to reshape them into a dense structure is one of the major advantages of a vector processor. </a:t>
            </a:r>
          </a:p>
          <a:p>
            <a:pPr algn="just"/>
            <a:r>
              <a:rPr lang="en-US" sz="2400" dirty="0" smtClean="0"/>
              <a:t>On VMIPS, where the addressable unit is a byte, the stride for our example would be 800. The value must be computed dynamically, since the size of the matrix may not be known at compile time or—just like vector length—may change for different executions of the same statement. </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067800" cy="762000"/>
          </a:xfrm>
        </p:spPr>
        <p:txBody>
          <a:bodyPr>
            <a:noAutofit/>
          </a:bodyPr>
          <a:lstStyle/>
          <a:p>
            <a:r>
              <a:rPr lang="en-US" sz="3000" b="1" dirty="0" smtClean="0">
                <a:solidFill>
                  <a:srgbClr val="00B0F0"/>
                </a:solidFill>
              </a:rPr>
              <a:t>Stride: Handling Multidimensional Arrays in Vector Architectures</a:t>
            </a:r>
            <a:endParaRPr lang="en-US" sz="3000" b="1" dirty="0">
              <a:solidFill>
                <a:srgbClr val="00B0F0"/>
              </a:solidFill>
            </a:endParaRPr>
          </a:p>
        </p:txBody>
      </p:sp>
      <p:sp>
        <p:nvSpPr>
          <p:cNvPr id="3" name="Content Placeholder 2"/>
          <p:cNvSpPr>
            <a:spLocks noGrp="1"/>
          </p:cNvSpPr>
          <p:nvPr>
            <p:ph idx="1"/>
          </p:nvPr>
        </p:nvSpPr>
        <p:spPr>
          <a:xfrm>
            <a:off x="76200" y="762000"/>
            <a:ext cx="8915400" cy="5943600"/>
          </a:xfrm>
        </p:spPr>
        <p:txBody>
          <a:bodyPr>
            <a:noAutofit/>
          </a:bodyPr>
          <a:lstStyle/>
          <a:p>
            <a:pPr algn="just"/>
            <a:r>
              <a:rPr lang="en-US" sz="2400" dirty="0" smtClean="0"/>
              <a:t>The vector stride, like the vector starting address, can be put in a general-purpose register. Then the VMIPS instruction LVWS (load vector with stride) fetches the vector into a vector register. </a:t>
            </a:r>
          </a:p>
          <a:p>
            <a:pPr algn="just"/>
            <a:r>
              <a:rPr lang="en-US" sz="2400" dirty="0" smtClean="0"/>
              <a:t>Like- wise, when storing a non-unit stride vector, use the instruction SVWS (store vector with stride). </a:t>
            </a:r>
          </a:p>
          <a:p>
            <a:pPr algn="just"/>
            <a:r>
              <a:rPr lang="en-US" sz="2400" dirty="0" smtClean="0"/>
              <a:t>Supporting strides greater than one complicates the memory system. Once we introduce non-unit strides, it becomes possible to request accesses from the same bank frequently. When multiple accesses contend for a bank, a memory bank conflict occurs, thereby stalling one access. A bank conflict and, hence, a stall will occur if </a:t>
            </a:r>
            <a:endParaRPr lang="en-US" sz="2400" dirty="0" smtClean="0"/>
          </a:p>
          <a:p>
            <a:pPr algn="just"/>
            <a:endParaRPr lang="en-US" sz="2400" dirty="0" smtClean="0"/>
          </a:p>
        </p:txBody>
      </p:sp>
      <p:graphicFrame>
        <p:nvGraphicFramePr>
          <p:cNvPr id="4" name="Object 3"/>
          <p:cNvGraphicFramePr>
            <a:graphicFrameLocks noChangeAspect="1"/>
          </p:cNvGraphicFramePr>
          <p:nvPr/>
        </p:nvGraphicFramePr>
        <p:xfrm>
          <a:off x="609600" y="5105400"/>
          <a:ext cx="8001000" cy="1219200"/>
        </p:xfrm>
        <a:graphic>
          <a:graphicData uri="http://schemas.openxmlformats.org/presentationml/2006/ole">
            <p:oleObj spid="_x0000_s4100" name="Equation" r:id="rId3" imgW="2705040" imgH="419040" progId="Equation.3">
              <p:embed/>
            </p:oleObj>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067800" cy="762000"/>
          </a:xfrm>
        </p:spPr>
        <p:txBody>
          <a:bodyPr>
            <a:noAutofit/>
          </a:bodyPr>
          <a:lstStyle/>
          <a:p>
            <a:r>
              <a:rPr lang="en-US" sz="3000" b="1" dirty="0" smtClean="0">
                <a:solidFill>
                  <a:srgbClr val="00B0F0"/>
                </a:solidFill>
              </a:rPr>
              <a:t>Stride: Handling Multidimensional Arrays in Vector Architectures</a:t>
            </a:r>
            <a:endParaRPr lang="en-US" sz="3000" b="1" dirty="0">
              <a:solidFill>
                <a:srgbClr val="00B0F0"/>
              </a:solidFill>
            </a:endParaRPr>
          </a:p>
        </p:txBody>
      </p:sp>
      <p:sp>
        <p:nvSpPr>
          <p:cNvPr id="3" name="Content Placeholder 2"/>
          <p:cNvSpPr>
            <a:spLocks noGrp="1"/>
          </p:cNvSpPr>
          <p:nvPr>
            <p:ph idx="1"/>
          </p:nvPr>
        </p:nvSpPr>
        <p:spPr>
          <a:xfrm>
            <a:off x="76200" y="762000"/>
            <a:ext cx="8915400" cy="5943600"/>
          </a:xfrm>
        </p:spPr>
        <p:txBody>
          <a:bodyPr>
            <a:noAutofit/>
          </a:bodyPr>
          <a:lstStyle/>
          <a:p>
            <a:pPr algn="just">
              <a:buNone/>
            </a:pPr>
            <a:r>
              <a:rPr lang="en-US" sz="2400" dirty="0" smtClean="0"/>
              <a:t>	Suppose we have 8 memory banks with a bank busy time of 6 clocks and a total memory latency of 12 cycles. How long will it take to complete a 64-element vector load with a stride of 1? With a stride of 32?</a:t>
            </a:r>
          </a:p>
          <a:p>
            <a:pPr algn="just">
              <a:buNone/>
            </a:pPr>
            <a:r>
              <a:rPr lang="en-US" sz="2400" dirty="0" smtClean="0"/>
              <a:t>	Since the number of banks is larger than the bank busy time, for a stride of 1 the load will take 12 + 64 = 76 clock cycles, or 1.2 clock cycles per element. </a:t>
            </a:r>
          </a:p>
          <a:p>
            <a:pPr algn="just">
              <a:buNone/>
            </a:pPr>
            <a:r>
              <a:rPr lang="en-US" sz="2400" dirty="0"/>
              <a:t>	</a:t>
            </a:r>
            <a:r>
              <a:rPr lang="en-US" sz="2400" dirty="0" smtClean="0"/>
              <a:t>The worst possible stride is a value that is a multiple of the number of memory banks, as in this case with a stride of 32 and 8 memory banks. Every access to memory (after the first one) will collide with the previous access and will have to wait for the 6-clock-cycle bank busy time. The total time will be 12 + 1 + 6 * 63 = 391 clock cycles, or 6.1 clock cycles per element.</a:t>
            </a:r>
            <a:endParaRPr lang="en-US" sz="2400" b="1" dirty="0">
              <a:solidFill>
                <a:srgbClr val="FF0000"/>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067800" cy="762000"/>
          </a:xfrm>
        </p:spPr>
        <p:txBody>
          <a:bodyPr>
            <a:noAutofit/>
          </a:bodyPr>
          <a:lstStyle/>
          <a:p>
            <a:r>
              <a:rPr lang="en-US" sz="3000" b="1" dirty="0" smtClean="0">
                <a:solidFill>
                  <a:srgbClr val="7030A0"/>
                </a:solidFill>
              </a:rPr>
              <a:t>Gather-Scatter: Handling Sparse Matrices in Vector Architectures</a:t>
            </a:r>
            <a:endParaRPr lang="en-US" sz="3000" b="1" dirty="0">
              <a:solidFill>
                <a:srgbClr val="7030A0"/>
              </a:solidFill>
            </a:endParaRPr>
          </a:p>
        </p:txBody>
      </p:sp>
      <p:sp>
        <p:nvSpPr>
          <p:cNvPr id="3" name="Content Placeholder 2"/>
          <p:cNvSpPr>
            <a:spLocks noGrp="1"/>
          </p:cNvSpPr>
          <p:nvPr>
            <p:ph idx="1"/>
          </p:nvPr>
        </p:nvSpPr>
        <p:spPr>
          <a:xfrm>
            <a:off x="76200" y="762000"/>
            <a:ext cx="8915400" cy="5943600"/>
          </a:xfrm>
        </p:spPr>
        <p:txBody>
          <a:bodyPr>
            <a:noAutofit/>
          </a:bodyPr>
          <a:lstStyle/>
          <a:p>
            <a:pPr algn="just">
              <a:buNone/>
            </a:pPr>
            <a:r>
              <a:rPr lang="en-US" sz="2400" dirty="0" smtClean="0"/>
              <a:t>	 In a sparse matrix, the elements of a vector are usually stored in some compacted form and then accessed indirectly. Assuming a simplified sparse structure, we might see code that looks like this: </a:t>
            </a:r>
          </a:p>
          <a:p>
            <a:pPr algn="just">
              <a:buNone/>
            </a:pPr>
            <a:r>
              <a:rPr lang="en-US" sz="2400" dirty="0"/>
              <a:t>	</a:t>
            </a:r>
            <a:r>
              <a:rPr lang="en-US" sz="2400" dirty="0" smtClean="0"/>
              <a:t>	for (</a:t>
            </a:r>
            <a:r>
              <a:rPr lang="en-US" sz="2400" dirty="0" err="1" smtClean="0"/>
              <a:t>i</a:t>
            </a:r>
            <a:r>
              <a:rPr lang="en-US" sz="2400" dirty="0" smtClean="0"/>
              <a:t> = 0; </a:t>
            </a:r>
            <a:r>
              <a:rPr lang="en-US" sz="2400" dirty="0" err="1" smtClean="0"/>
              <a:t>i</a:t>
            </a:r>
            <a:r>
              <a:rPr lang="en-US" sz="2400" dirty="0" smtClean="0"/>
              <a:t> &lt; n;  </a:t>
            </a:r>
            <a:r>
              <a:rPr lang="en-US" sz="2400" dirty="0" err="1" smtClean="0"/>
              <a:t>i</a:t>
            </a:r>
            <a:r>
              <a:rPr lang="en-US" sz="2400" dirty="0" smtClean="0"/>
              <a:t>=i+1) </a:t>
            </a:r>
          </a:p>
          <a:p>
            <a:pPr algn="just">
              <a:buNone/>
            </a:pPr>
            <a:r>
              <a:rPr lang="en-US" sz="2400" dirty="0"/>
              <a:t>	</a:t>
            </a:r>
            <a:r>
              <a:rPr lang="en-US" sz="2400" dirty="0" smtClean="0"/>
              <a:t>		A[K[</a:t>
            </a:r>
            <a:r>
              <a:rPr lang="en-US" sz="2400" dirty="0" err="1" smtClean="0"/>
              <a:t>i</a:t>
            </a:r>
            <a:r>
              <a:rPr lang="en-US" sz="2400" dirty="0" smtClean="0"/>
              <a:t>]] = A[K[</a:t>
            </a:r>
            <a:r>
              <a:rPr lang="en-US" sz="2400" dirty="0" err="1" smtClean="0"/>
              <a:t>i</a:t>
            </a:r>
            <a:r>
              <a:rPr lang="en-US" sz="2400" dirty="0" smtClean="0"/>
              <a:t>]] + C[M[</a:t>
            </a:r>
            <a:r>
              <a:rPr lang="en-US" sz="2400" dirty="0" err="1" smtClean="0"/>
              <a:t>i</a:t>
            </a:r>
            <a:r>
              <a:rPr lang="en-US" sz="2400" dirty="0" smtClean="0"/>
              <a:t>]]; </a:t>
            </a:r>
          </a:p>
          <a:p>
            <a:pPr algn="just">
              <a:buNone/>
            </a:pPr>
            <a:r>
              <a:rPr lang="en-US" sz="2400" dirty="0"/>
              <a:t>	</a:t>
            </a:r>
            <a:r>
              <a:rPr lang="en-US" sz="2400" dirty="0" smtClean="0"/>
              <a:t>This code implements a sparse vector sum on the arrays A and C, using index vectors K and M to designate the nonzero elements of A and C. (A and C must have the same number of nonzero elements—n of them—so K and M are the same size.) The primary mechanism for supporting sparse matrices is gather-scatter operations using index vectors. The goal of such operations is to support moving between a compressed representation (i.e., zeros are not included) and normal representation (i.e., the zeros are included) of a sparse matrix. </a:t>
            </a:r>
          </a:p>
          <a:p>
            <a:pPr algn="just"/>
            <a:r>
              <a:rPr lang="en-US" sz="2400" dirty="0" smtClean="0"/>
              <a:t>A gather operation takes an index vector and fetches the vector whose elements are at the addresses given by adding a base</a:t>
            </a:r>
            <a:endParaRPr lang="en-US" sz="2400" b="1" dirty="0">
              <a:solidFill>
                <a:srgbClr val="FF0000"/>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067800" cy="762000"/>
          </a:xfrm>
        </p:spPr>
        <p:txBody>
          <a:bodyPr>
            <a:noAutofit/>
          </a:bodyPr>
          <a:lstStyle/>
          <a:p>
            <a:r>
              <a:rPr lang="en-US" sz="3000" b="1" dirty="0" smtClean="0">
                <a:solidFill>
                  <a:srgbClr val="7030A0"/>
                </a:solidFill>
              </a:rPr>
              <a:t>Gather-Scatter: Handling Sparse Matrices in Vector Architectures</a:t>
            </a:r>
            <a:endParaRPr lang="en-US" sz="3000" b="1" dirty="0">
              <a:solidFill>
                <a:srgbClr val="7030A0"/>
              </a:solidFill>
            </a:endParaRPr>
          </a:p>
        </p:txBody>
      </p:sp>
      <p:sp>
        <p:nvSpPr>
          <p:cNvPr id="3" name="Content Placeholder 2"/>
          <p:cNvSpPr>
            <a:spLocks noGrp="1"/>
          </p:cNvSpPr>
          <p:nvPr>
            <p:ph idx="1"/>
          </p:nvPr>
        </p:nvSpPr>
        <p:spPr>
          <a:xfrm>
            <a:off x="76200" y="762000"/>
            <a:ext cx="8915400" cy="5943600"/>
          </a:xfrm>
        </p:spPr>
        <p:txBody>
          <a:bodyPr>
            <a:noAutofit/>
          </a:bodyPr>
          <a:lstStyle/>
          <a:p>
            <a:pPr algn="just">
              <a:buNone/>
            </a:pPr>
            <a:r>
              <a:rPr lang="en-US" sz="2400" dirty="0" smtClean="0"/>
              <a:t>	address to the offsets given in the index vector. The result is a dense vector in a vector register. After these elements are operated on in dense form, the sparse vector can be stored in expanded form by a scatter store, using the same index vector. </a:t>
            </a:r>
          </a:p>
          <a:p>
            <a:pPr algn="just"/>
            <a:r>
              <a:rPr lang="en-US" sz="2400" dirty="0" smtClean="0"/>
              <a:t>Hardware support for such operations is called gather-scatter and it appears on nearly all modern vector processors. </a:t>
            </a:r>
          </a:p>
          <a:p>
            <a:pPr algn="just"/>
            <a:r>
              <a:rPr lang="en-US" sz="2400" dirty="0" smtClean="0"/>
              <a:t>The VMIPS instructions are LVI (load vector indexed or gather) and SVI (store vector indexed or scatter). </a:t>
            </a:r>
          </a:p>
          <a:p>
            <a:pPr algn="just"/>
            <a:r>
              <a:rPr lang="en-US" sz="2400" dirty="0" smtClean="0"/>
              <a:t>For example, if Ra, </a:t>
            </a:r>
            <a:r>
              <a:rPr lang="en-US" sz="2400" dirty="0" err="1" smtClean="0"/>
              <a:t>Rc</a:t>
            </a:r>
            <a:r>
              <a:rPr lang="en-US" sz="2400" dirty="0" smtClean="0"/>
              <a:t>, </a:t>
            </a:r>
            <a:r>
              <a:rPr lang="en-US" sz="2400" dirty="0" err="1" smtClean="0"/>
              <a:t>Rk</a:t>
            </a:r>
            <a:r>
              <a:rPr lang="en-US" sz="2400" dirty="0" smtClean="0"/>
              <a:t>, and </a:t>
            </a:r>
            <a:r>
              <a:rPr lang="en-US" sz="2400" dirty="0" err="1" smtClean="0"/>
              <a:t>Rm</a:t>
            </a:r>
            <a:r>
              <a:rPr lang="en-US" sz="2400" dirty="0" smtClean="0"/>
              <a:t> contain the starting addresses of the vectors in the previous sequence, we can code the inner loop with vector instructions such as: </a:t>
            </a:r>
          </a:p>
          <a:p>
            <a:pPr algn="just"/>
            <a:endParaRPr lang="en-US" sz="2400" dirty="0" smtClean="0"/>
          </a:p>
        </p:txBody>
      </p:sp>
      <p:pic>
        <p:nvPicPr>
          <p:cNvPr id="7170" name="Picture 2"/>
          <p:cNvPicPr>
            <a:picLocks noChangeAspect="1" noChangeArrowheads="1"/>
          </p:cNvPicPr>
          <p:nvPr/>
        </p:nvPicPr>
        <p:blipFill>
          <a:blip r:embed="rId3"/>
          <a:srcRect/>
          <a:stretch>
            <a:fillRect/>
          </a:stretch>
        </p:blipFill>
        <p:spPr bwMode="auto">
          <a:xfrm>
            <a:off x="1828800" y="5095875"/>
            <a:ext cx="4924425" cy="176212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067800" cy="762000"/>
          </a:xfrm>
        </p:spPr>
        <p:txBody>
          <a:bodyPr>
            <a:noAutofit/>
          </a:bodyPr>
          <a:lstStyle/>
          <a:p>
            <a:r>
              <a:rPr lang="en-US" sz="3000" b="1" dirty="0" smtClean="0">
                <a:solidFill>
                  <a:srgbClr val="7030A0"/>
                </a:solidFill>
              </a:rPr>
              <a:t>Gather-Scatter: Handling Sparse Matrices in Vector Architectures</a:t>
            </a:r>
            <a:endParaRPr lang="en-US" sz="3000" b="1" dirty="0">
              <a:solidFill>
                <a:srgbClr val="7030A0"/>
              </a:solidFill>
            </a:endParaRPr>
          </a:p>
        </p:txBody>
      </p:sp>
      <p:sp>
        <p:nvSpPr>
          <p:cNvPr id="3" name="Content Placeholder 2"/>
          <p:cNvSpPr>
            <a:spLocks noGrp="1"/>
          </p:cNvSpPr>
          <p:nvPr>
            <p:ph idx="1"/>
          </p:nvPr>
        </p:nvSpPr>
        <p:spPr>
          <a:xfrm>
            <a:off x="76200" y="762000"/>
            <a:ext cx="8915400" cy="5943600"/>
          </a:xfrm>
        </p:spPr>
        <p:txBody>
          <a:bodyPr>
            <a:noAutofit/>
          </a:bodyPr>
          <a:lstStyle/>
          <a:p>
            <a:pPr algn="just"/>
            <a:r>
              <a:rPr lang="en-US" sz="2400" dirty="0" smtClean="0"/>
              <a:t>This </a:t>
            </a:r>
            <a:r>
              <a:rPr lang="en-US" sz="2400" dirty="0"/>
              <a:t>technique allows code with sparse matrices to run in vector mode. </a:t>
            </a:r>
            <a:endParaRPr lang="en-US" sz="2400" dirty="0" smtClean="0"/>
          </a:p>
          <a:p>
            <a:pPr algn="just"/>
            <a:r>
              <a:rPr lang="en-US" sz="2400" dirty="0" smtClean="0"/>
              <a:t>A programmer directive would tell the compiler that it was safe to run the loop in vector mode.</a:t>
            </a:r>
          </a:p>
          <a:p>
            <a:pPr algn="just"/>
            <a:r>
              <a:rPr lang="en-US" sz="2400" dirty="0" smtClean="0"/>
              <a:t>Although </a:t>
            </a:r>
            <a:r>
              <a:rPr lang="en-US" sz="2400" dirty="0"/>
              <a:t>indexed loads and stores (gather and scatter) can be pipelined, </a:t>
            </a:r>
            <a:r>
              <a:rPr lang="en-US" sz="2400" dirty="0" smtClean="0"/>
              <a:t>they typically </a:t>
            </a:r>
            <a:r>
              <a:rPr lang="en-US" sz="2400" dirty="0"/>
              <a:t>run much more slowly than non-indexed loads or stores, since the </a:t>
            </a:r>
            <a:r>
              <a:rPr lang="en-US" sz="2400" dirty="0" smtClean="0"/>
              <a:t>memory banks </a:t>
            </a:r>
            <a:r>
              <a:rPr lang="en-US" sz="2400" dirty="0"/>
              <a:t>are not known at the start of the instruction. </a:t>
            </a:r>
            <a:endParaRPr lang="en-US" sz="2400" dirty="0" smtClean="0"/>
          </a:p>
          <a:p>
            <a:pPr algn="just"/>
            <a:r>
              <a:rPr lang="en-US" sz="2400" dirty="0" smtClean="0"/>
              <a:t>Each </a:t>
            </a:r>
            <a:r>
              <a:rPr lang="en-US" sz="2400" dirty="0"/>
              <a:t>element has an </a:t>
            </a:r>
            <a:r>
              <a:rPr lang="en-US" sz="2400" dirty="0" smtClean="0"/>
              <a:t>individual address</a:t>
            </a:r>
            <a:r>
              <a:rPr lang="en-US" sz="2400" dirty="0"/>
              <a:t>, so they can’t be handled in groups, and there can be conflicts </a:t>
            </a:r>
            <a:r>
              <a:rPr lang="en-US" sz="2400" dirty="0" smtClean="0"/>
              <a:t>at many </a:t>
            </a:r>
            <a:r>
              <a:rPr lang="en-US" sz="2400" dirty="0"/>
              <a:t>places throughout the memory system. Thus, each individual access </a:t>
            </a:r>
            <a:r>
              <a:rPr lang="en-US" sz="2400" dirty="0" smtClean="0"/>
              <a:t>incurs significant </a:t>
            </a:r>
            <a:r>
              <a:rPr lang="en-US" sz="2400" dirty="0"/>
              <a:t>latency.</a:t>
            </a:r>
            <a:r>
              <a:rPr lang="en-US" sz="2400" dirty="0" smtClean="0"/>
              <a:t> </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277</TotalTime>
  <Words>597</Words>
  <Application>Microsoft Office PowerPoint</Application>
  <PresentationFormat>On-screen Show (4:3)</PresentationFormat>
  <Paragraphs>45</Paragraphs>
  <Slides>9</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9</vt:i4>
      </vt:variant>
    </vt:vector>
  </HeadingPairs>
  <TitlesOfParts>
    <vt:vector size="11" baseType="lpstr">
      <vt:lpstr>Office Theme</vt:lpstr>
      <vt:lpstr>Microsoft Equation 3.0</vt:lpstr>
      <vt:lpstr>Handling multidimensional arrays and sparse matrices</vt:lpstr>
      <vt:lpstr>Stride: Handling Multidimensional Arrays in Vector Architectures</vt:lpstr>
      <vt:lpstr>Stride: Handling Multidimensional Arrays in Vector Architectures</vt:lpstr>
      <vt:lpstr>Stride: Handling Multidimensional Arrays in Vector Architectures</vt:lpstr>
      <vt:lpstr>Stride: Handling Multidimensional Arrays in Vector Architectures</vt:lpstr>
      <vt:lpstr>Stride: Handling Multidimensional Arrays in Vector Architectures</vt:lpstr>
      <vt:lpstr>Gather-Scatter: Handling Sparse Matrices in Vector Architectures</vt:lpstr>
      <vt:lpstr>Gather-Scatter: Handling Sparse Matrices in Vector Architectures</vt:lpstr>
      <vt:lpstr>Gather-Scatter: Handling Sparse Matrices in Vector Architectures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Handling multidimensional arrays and sparse matrices</dc:title>
  <dc:creator>ananthi</dc:creator>
  <cp:lastModifiedBy>SUPER SYSTEM</cp:lastModifiedBy>
  <cp:revision>24</cp:revision>
  <dcterms:created xsi:type="dcterms:W3CDTF">2016-08-12T06:56:12Z</dcterms:created>
  <dcterms:modified xsi:type="dcterms:W3CDTF">2017-08-09T08:57:28Z</dcterms:modified>
</cp:coreProperties>
</file>